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06799F8-075E-4A3A-A7F6-7FBC6576F1A4}" styleName="Style à thème 2 - Accentuation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Style à thème 2 - Accentuation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84" y="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E866AE-8637-4692-9803-06BF1DF7B6EC}" type="datetimeFigureOut">
              <a:rPr lang="fr-FR" smtClean="0"/>
              <a:t>27/02/2026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4FE9D-3C80-4405-9A4E-4503F63D2EB3}" type="slidenum">
              <a:rPr lang="fr-FR" smtClean="0"/>
              <a:t>‹N°›</a:t>
            </a:fld>
            <a:endParaRPr lang="fr-FR"/>
          </a:p>
        </p:txBody>
      </p:sp>
    </p:spTree>
    <p:extLst>
      <p:ext uri="{BB962C8B-B14F-4D97-AF65-F5344CB8AC3E}">
        <p14:creationId xmlns:p14="http://schemas.microsoft.com/office/powerpoint/2010/main" val="58909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34FE9D-3C80-4405-9A4E-4503F63D2EB3}" type="slidenum">
              <a:rPr lang="fr-FR" smtClean="0"/>
              <a:t>4</a:t>
            </a:fld>
            <a:endParaRPr lang="fr-FR"/>
          </a:p>
        </p:txBody>
      </p:sp>
    </p:spTree>
    <p:extLst>
      <p:ext uri="{BB962C8B-B14F-4D97-AF65-F5344CB8AC3E}">
        <p14:creationId xmlns:p14="http://schemas.microsoft.com/office/powerpoint/2010/main" val="2465392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34FE9D-3C80-4405-9A4E-4503F63D2EB3}" type="slidenum">
              <a:rPr lang="fr-FR" smtClean="0"/>
              <a:t>10</a:t>
            </a:fld>
            <a:endParaRPr lang="fr-FR"/>
          </a:p>
        </p:txBody>
      </p:sp>
    </p:spTree>
    <p:extLst>
      <p:ext uri="{BB962C8B-B14F-4D97-AF65-F5344CB8AC3E}">
        <p14:creationId xmlns:p14="http://schemas.microsoft.com/office/powerpoint/2010/main" val="2185090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B28EBE-F558-3005-F350-B5048459436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A3AFB53-73EE-932C-CDBB-22D6FB81F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898BC06-302A-3294-14BB-92CFCCDE48EB}"/>
              </a:ext>
            </a:extLst>
          </p:cNvPr>
          <p:cNvSpPr>
            <a:spLocks noGrp="1"/>
          </p:cNvSpPr>
          <p:nvPr>
            <p:ph type="dt" sz="half" idx="10"/>
          </p:nvPr>
        </p:nvSpPr>
        <p:spPr/>
        <p:txBody>
          <a:bodyPr/>
          <a:lstStyle/>
          <a:p>
            <a:fld id="{3F2E55F6-5301-4EC7-9DFA-66A3A913599B}" type="datetimeFigureOut">
              <a:rPr lang="fr-FR" smtClean="0"/>
              <a:t>27/02/2026</a:t>
            </a:fld>
            <a:endParaRPr lang="fr-FR"/>
          </a:p>
        </p:txBody>
      </p:sp>
      <p:sp>
        <p:nvSpPr>
          <p:cNvPr id="5" name="Espace réservé du pied de page 4">
            <a:extLst>
              <a:ext uri="{FF2B5EF4-FFF2-40B4-BE49-F238E27FC236}">
                <a16:creationId xmlns:a16="http://schemas.microsoft.com/office/drawing/2014/main" id="{648C35A6-C9E0-D7F5-6BB1-D4FBFD4D05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E2F22D8-AB01-2ACB-8A2A-C9065CA7CE51}"/>
              </a:ext>
            </a:extLst>
          </p:cNvPr>
          <p:cNvSpPr>
            <a:spLocks noGrp="1"/>
          </p:cNvSpPr>
          <p:nvPr>
            <p:ph type="sldNum" sz="quarter" idx="12"/>
          </p:nvPr>
        </p:nvSpPr>
        <p:spPr/>
        <p:txBody>
          <a:bodyPr/>
          <a:lstStyle/>
          <a:p>
            <a:fld id="{5066454C-9A2D-4018-8B62-27A6ACAE8D04}" type="slidenum">
              <a:rPr lang="fr-FR" smtClean="0"/>
              <a:t>‹N°›</a:t>
            </a:fld>
            <a:endParaRPr lang="fr-FR"/>
          </a:p>
        </p:txBody>
      </p:sp>
    </p:spTree>
    <p:extLst>
      <p:ext uri="{BB962C8B-B14F-4D97-AF65-F5344CB8AC3E}">
        <p14:creationId xmlns:p14="http://schemas.microsoft.com/office/powerpoint/2010/main" val="635392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D9AF35-B5B3-A9E7-D220-17E7D927AC0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27636A6-FD94-DFB4-04B9-6D9BB5D154A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338ED7B-13F7-D8BE-8AAF-B5E5E2F211C1}"/>
              </a:ext>
            </a:extLst>
          </p:cNvPr>
          <p:cNvSpPr>
            <a:spLocks noGrp="1"/>
          </p:cNvSpPr>
          <p:nvPr>
            <p:ph type="dt" sz="half" idx="10"/>
          </p:nvPr>
        </p:nvSpPr>
        <p:spPr/>
        <p:txBody>
          <a:bodyPr/>
          <a:lstStyle/>
          <a:p>
            <a:fld id="{3F2E55F6-5301-4EC7-9DFA-66A3A913599B}" type="datetimeFigureOut">
              <a:rPr lang="fr-FR" smtClean="0"/>
              <a:t>27/02/2026</a:t>
            </a:fld>
            <a:endParaRPr lang="fr-FR"/>
          </a:p>
        </p:txBody>
      </p:sp>
      <p:sp>
        <p:nvSpPr>
          <p:cNvPr id="5" name="Espace réservé du pied de page 4">
            <a:extLst>
              <a:ext uri="{FF2B5EF4-FFF2-40B4-BE49-F238E27FC236}">
                <a16:creationId xmlns:a16="http://schemas.microsoft.com/office/drawing/2014/main" id="{398BB9F8-878D-7974-60CC-8DBC88F358A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80062A8-1400-628C-3183-7E27A14A8B2D}"/>
              </a:ext>
            </a:extLst>
          </p:cNvPr>
          <p:cNvSpPr>
            <a:spLocks noGrp="1"/>
          </p:cNvSpPr>
          <p:nvPr>
            <p:ph type="sldNum" sz="quarter" idx="12"/>
          </p:nvPr>
        </p:nvSpPr>
        <p:spPr/>
        <p:txBody>
          <a:bodyPr/>
          <a:lstStyle/>
          <a:p>
            <a:fld id="{5066454C-9A2D-4018-8B62-27A6ACAE8D04}" type="slidenum">
              <a:rPr lang="fr-FR" smtClean="0"/>
              <a:t>‹N°›</a:t>
            </a:fld>
            <a:endParaRPr lang="fr-FR"/>
          </a:p>
        </p:txBody>
      </p:sp>
    </p:spTree>
    <p:extLst>
      <p:ext uri="{BB962C8B-B14F-4D97-AF65-F5344CB8AC3E}">
        <p14:creationId xmlns:p14="http://schemas.microsoft.com/office/powerpoint/2010/main" val="3336476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7E558D-9BB6-0AC4-776F-D5707F28C28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64E7726A-6A1D-CD54-035B-1B0F3B851C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DF40A61-72F1-181D-310A-D20A40570A95}"/>
              </a:ext>
            </a:extLst>
          </p:cNvPr>
          <p:cNvSpPr>
            <a:spLocks noGrp="1"/>
          </p:cNvSpPr>
          <p:nvPr>
            <p:ph type="dt" sz="half" idx="10"/>
          </p:nvPr>
        </p:nvSpPr>
        <p:spPr/>
        <p:txBody>
          <a:bodyPr/>
          <a:lstStyle/>
          <a:p>
            <a:fld id="{3F2E55F6-5301-4EC7-9DFA-66A3A913599B}" type="datetimeFigureOut">
              <a:rPr lang="fr-FR" smtClean="0"/>
              <a:t>27/02/2026</a:t>
            </a:fld>
            <a:endParaRPr lang="fr-FR"/>
          </a:p>
        </p:txBody>
      </p:sp>
      <p:sp>
        <p:nvSpPr>
          <p:cNvPr id="5" name="Espace réservé du pied de page 4">
            <a:extLst>
              <a:ext uri="{FF2B5EF4-FFF2-40B4-BE49-F238E27FC236}">
                <a16:creationId xmlns:a16="http://schemas.microsoft.com/office/drawing/2014/main" id="{92484EC1-F7A7-8B05-8089-3CBB5B6686E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7815061-747A-3914-B616-19E499F9F0F7}"/>
              </a:ext>
            </a:extLst>
          </p:cNvPr>
          <p:cNvSpPr>
            <a:spLocks noGrp="1"/>
          </p:cNvSpPr>
          <p:nvPr>
            <p:ph type="sldNum" sz="quarter" idx="12"/>
          </p:nvPr>
        </p:nvSpPr>
        <p:spPr/>
        <p:txBody>
          <a:bodyPr/>
          <a:lstStyle/>
          <a:p>
            <a:fld id="{5066454C-9A2D-4018-8B62-27A6ACAE8D04}" type="slidenum">
              <a:rPr lang="fr-FR" smtClean="0"/>
              <a:t>‹N°›</a:t>
            </a:fld>
            <a:endParaRPr lang="fr-FR"/>
          </a:p>
        </p:txBody>
      </p:sp>
    </p:spTree>
    <p:extLst>
      <p:ext uri="{BB962C8B-B14F-4D97-AF65-F5344CB8AC3E}">
        <p14:creationId xmlns:p14="http://schemas.microsoft.com/office/powerpoint/2010/main" val="2651762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74504D-8513-1A5C-7D0E-4227A222FED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2F7D9EE-BF17-7619-B30C-09A56646C9A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60FC936-503B-861B-45ED-CE1548B587A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864B3D3-D5B0-00C6-4586-563E4F091A87}"/>
              </a:ext>
            </a:extLst>
          </p:cNvPr>
          <p:cNvSpPr>
            <a:spLocks noGrp="1"/>
          </p:cNvSpPr>
          <p:nvPr>
            <p:ph type="dt" sz="half" idx="10"/>
          </p:nvPr>
        </p:nvSpPr>
        <p:spPr/>
        <p:txBody>
          <a:bodyPr/>
          <a:lstStyle/>
          <a:p>
            <a:fld id="{3F2E55F6-5301-4EC7-9DFA-66A3A913599B}" type="datetimeFigureOut">
              <a:rPr lang="fr-FR" smtClean="0"/>
              <a:t>27/02/2026</a:t>
            </a:fld>
            <a:endParaRPr lang="fr-FR"/>
          </a:p>
        </p:txBody>
      </p:sp>
      <p:sp>
        <p:nvSpPr>
          <p:cNvPr id="6" name="Espace réservé du pied de page 5">
            <a:extLst>
              <a:ext uri="{FF2B5EF4-FFF2-40B4-BE49-F238E27FC236}">
                <a16:creationId xmlns:a16="http://schemas.microsoft.com/office/drawing/2014/main" id="{8CD3C358-0743-51FD-C185-2024CCBF71B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E776883-95B1-47BB-D5D6-90BF8EBA203F}"/>
              </a:ext>
            </a:extLst>
          </p:cNvPr>
          <p:cNvSpPr>
            <a:spLocks noGrp="1"/>
          </p:cNvSpPr>
          <p:nvPr>
            <p:ph type="sldNum" sz="quarter" idx="12"/>
          </p:nvPr>
        </p:nvSpPr>
        <p:spPr/>
        <p:txBody>
          <a:bodyPr/>
          <a:lstStyle/>
          <a:p>
            <a:fld id="{5066454C-9A2D-4018-8B62-27A6ACAE8D04}" type="slidenum">
              <a:rPr lang="fr-FR" smtClean="0"/>
              <a:t>‹N°›</a:t>
            </a:fld>
            <a:endParaRPr lang="fr-FR"/>
          </a:p>
        </p:txBody>
      </p:sp>
    </p:spTree>
    <p:extLst>
      <p:ext uri="{BB962C8B-B14F-4D97-AF65-F5344CB8AC3E}">
        <p14:creationId xmlns:p14="http://schemas.microsoft.com/office/powerpoint/2010/main" val="32947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1D1D92-BEFA-7D1C-599B-463BAF3D20A4}"/>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9B80A769-D5A7-8C3F-FB22-7B4695A987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E19FC78-A291-3063-3D02-8AC4AE9B9DA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C2F278C-E45C-C04F-A723-5549D79084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2A8E402-9708-A5CB-C398-BB0125DB2A6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DA125E2-C2F3-A31B-0729-2CE9D46C20DC}"/>
              </a:ext>
            </a:extLst>
          </p:cNvPr>
          <p:cNvSpPr>
            <a:spLocks noGrp="1"/>
          </p:cNvSpPr>
          <p:nvPr>
            <p:ph type="dt" sz="half" idx="10"/>
          </p:nvPr>
        </p:nvSpPr>
        <p:spPr/>
        <p:txBody>
          <a:bodyPr/>
          <a:lstStyle/>
          <a:p>
            <a:fld id="{3F2E55F6-5301-4EC7-9DFA-66A3A913599B}" type="datetimeFigureOut">
              <a:rPr lang="fr-FR" smtClean="0"/>
              <a:t>27/02/2026</a:t>
            </a:fld>
            <a:endParaRPr lang="fr-FR"/>
          </a:p>
        </p:txBody>
      </p:sp>
      <p:sp>
        <p:nvSpPr>
          <p:cNvPr id="8" name="Espace réservé du pied de page 7">
            <a:extLst>
              <a:ext uri="{FF2B5EF4-FFF2-40B4-BE49-F238E27FC236}">
                <a16:creationId xmlns:a16="http://schemas.microsoft.com/office/drawing/2014/main" id="{162BF74B-27EE-72C5-2A15-E5B6214EE64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ED5409E-BBCE-A98E-9183-27BFBA917DB0}"/>
              </a:ext>
            </a:extLst>
          </p:cNvPr>
          <p:cNvSpPr>
            <a:spLocks noGrp="1"/>
          </p:cNvSpPr>
          <p:nvPr>
            <p:ph type="sldNum" sz="quarter" idx="12"/>
          </p:nvPr>
        </p:nvSpPr>
        <p:spPr/>
        <p:txBody>
          <a:bodyPr/>
          <a:lstStyle/>
          <a:p>
            <a:fld id="{5066454C-9A2D-4018-8B62-27A6ACAE8D04}" type="slidenum">
              <a:rPr lang="fr-FR" smtClean="0"/>
              <a:t>‹N°›</a:t>
            </a:fld>
            <a:endParaRPr lang="fr-FR"/>
          </a:p>
        </p:txBody>
      </p:sp>
    </p:spTree>
    <p:extLst>
      <p:ext uri="{BB962C8B-B14F-4D97-AF65-F5344CB8AC3E}">
        <p14:creationId xmlns:p14="http://schemas.microsoft.com/office/powerpoint/2010/main" val="1852274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081032-C2D6-FAB1-1150-CF77BE08EB0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0FA566E5-B66A-0798-E72E-E21C8B035DEE}"/>
              </a:ext>
            </a:extLst>
          </p:cNvPr>
          <p:cNvSpPr>
            <a:spLocks noGrp="1"/>
          </p:cNvSpPr>
          <p:nvPr>
            <p:ph type="dt" sz="half" idx="10"/>
          </p:nvPr>
        </p:nvSpPr>
        <p:spPr/>
        <p:txBody>
          <a:bodyPr/>
          <a:lstStyle/>
          <a:p>
            <a:fld id="{3F2E55F6-5301-4EC7-9DFA-66A3A913599B}" type="datetimeFigureOut">
              <a:rPr lang="fr-FR" smtClean="0"/>
              <a:t>27/02/2026</a:t>
            </a:fld>
            <a:endParaRPr lang="fr-FR"/>
          </a:p>
        </p:txBody>
      </p:sp>
      <p:sp>
        <p:nvSpPr>
          <p:cNvPr id="4" name="Espace réservé du pied de page 3">
            <a:extLst>
              <a:ext uri="{FF2B5EF4-FFF2-40B4-BE49-F238E27FC236}">
                <a16:creationId xmlns:a16="http://schemas.microsoft.com/office/drawing/2014/main" id="{E727D977-9D1B-C5AC-648A-CF0EF6E55B1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A70839BB-FB1F-960B-787F-244E8EBD709E}"/>
              </a:ext>
            </a:extLst>
          </p:cNvPr>
          <p:cNvSpPr>
            <a:spLocks noGrp="1"/>
          </p:cNvSpPr>
          <p:nvPr>
            <p:ph type="sldNum" sz="quarter" idx="12"/>
          </p:nvPr>
        </p:nvSpPr>
        <p:spPr/>
        <p:txBody>
          <a:bodyPr/>
          <a:lstStyle/>
          <a:p>
            <a:fld id="{5066454C-9A2D-4018-8B62-27A6ACAE8D04}" type="slidenum">
              <a:rPr lang="fr-FR" smtClean="0"/>
              <a:t>‹N°›</a:t>
            </a:fld>
            <a:endParaRPr lang="fr-FR"/>
          </a:p>
        </p:txBody>
      </p:sp>
    </p:spTree>
    <p:extLst>
      <p:ext uri="{BB962C8B-B14F-4D97-AF65-F5344CB8AC3E}">
        <p14:creationId xmlns:p14="http://schemas.microsoft.com/office/powerpoint/2010/main" val="2187938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DC35079-D1D1-A940-FA8C-3E154CCABB74}"/>
              </a:ext>
            </a:extLst>
          </p:cNvPr>
          <p:cNvSpPr>
            <a:spLocks noGrp="1"/>
          </p:cNvSpPr>
          <p:nvPr>
            <p:ph type="dt" sz="half" idx="10"/>
          </p:nvPr>
        </p:nvSpPr>
        <p:spPr/>
        <p:txBody>
          <a:bodyPr/>
          <a:lstStyle/>
          <a:p>
            <a:fld id="{3F2E55F6-5301-4EC7-9DFA-66A3A913599B}" type="datetimeFigureOut">
              <a:rPr lang="fr-FR" smtClean="0"/>
              <a:t>27/02/2026</a:t>
            </a:fld>
            <a:endParaRPr lang="fr-FR"/>
          </a:p>
        </p:txBody>
      </p:sp>
      <p:sp>
        <p:nvSpPr>
          <p:cNvPr id="3" name="Espace réservé du pied de page 2">
            <a:extLst>
              <a:ext uri="{FF2B5EF4-FFF2-40B4-BE49-F238E27FC236}">
                <a16:creationId xmlns:a16="http://schemas.microsoft.com/office/drawing/2014/main" id="{61E4B846-C03F-486C-490D-D7A60A4747D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D31BEEFF-AB8E-37BC-D1E3-4C2A68502622}"/>
              </a:ext>
            </a:extLst>
          </p:cNvPr>
          <p:cNvSpPr>
            <a:spLocks noGrp="1"/>
          </p:cNvSpPr>
          <p:nvPr>
            <p:ph type="sldNum" sz="quarter" idx="12"/>
          </p:nvPr>
        </p:nvSpPr>
        <p:spPr/>
        <p:txBody>
          <a:bodyPr/>
          <a:lstStyle/>
          <a:p>
            <a:fld id="{5066454C-9A2D-4018-8B62-27A6ACAE8D04}" type="slidenum">
              <a:rPr lang="fr-FR" smtClean="0"/>
              <a:t>‹N°›</a:t>
            </a:fld>
            <a:endParaRPr lang="fr-FR"/>
          </a:p>
        </p:txBody>
      </p:sp>
    </p:spTree>
    <p:extLst>
      <p:ext uri="{BB962C8B-B14F-4D97-AF65-F5344CB8AC3E}">
        <p14:creationId xmlns:p14="http://schemas.microsoft.com/office/powerpoint/2010/main" val="2346162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9F0A82-A86C-69C8-C97A-6E29F7BFDC4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B56C1D7-4CE5-D2B4-53DF-4339B48658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1726446-13D5-44BC-02A4-597E9683CB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539788F-CFB9-55FE-60F6-285F0A179EB2}"/>
              </a:ext>
            </a:extLst>
          </p:cNvPr>
          <p:cNvSpPr>
            <a:spLocks noGrp="1"/>
          </p:cNvSpPr>
          <p:nvPr>
            <p:ph type="dt" sz="half" idx="10"/>
          </p:nvPr>
        </p:nvSpPr>
        <p:spPr/>
        <p:txBody>
          <a:bodyPr/>
          <a:lstStyle/>
          <a:p>
            <a:fld id="{3F2E55F6-5301-4EC7-9DFA-66A3A913599B}" type="datetimeFigureOut">
              <a:rPr lang="fr-FR" smtClean="0"/>
              <a:t>27/02/2026</a:t>
            </a:fld>
            <a:endParaRPr lang="fr-FR"/>
          </a:p>
        </p:txBody>
      </p:sp>
      <p:sp>
        <p:nvSpPr>
          <p:cNvPr id="6" name="Espace réservé du pied de page 5">
            <a:extLst>
              <a:ext uri="{FF2B5EF4-FFF2-40B4-BE49-F238E27FC236}">
                <a16:creationId xmlns:a16="http://schemas.microsoft.com/office/drawing/2014/main" id="{9AC37F74-78A2-5CC8-B88F-6EB1BE88773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0E52C61-6142-FA05-FF22-6E6DA166492E}"/>
              </a:ext>
            </a:extLst>
          </p:cNvPr>
          <p:cNvSpPr>
            <a:spLocks noGrp="1"/>
          </p:cNvSpPr>
          <p:nvPr>
            <p:ph type="sldNum" sz="quarter" idx="12"/>
          </p:nvPr>
        </p:nvSpPr>
        <p:spPr/>
        <p:txBody>
          <a:bodyPr/>
          <a:lstStyle/>
          <a:p>
            <a:fld id="{5066454C-9A2D-4018-8B62-27A6ACAE8D04}" type="slidenum">
              <a:rPr lang="fr-FR" smtClean="0"/>
              <a:t>‹N°›</a:t>
            </a:fld>
            <a:endParaRPr lang="fr-FR"/>
          </a:p>
        </p:txBody>
      </p:sp>
    </p:spTree>
    <p:extLst>
      <p:ext uri="{BB962C8B-B14F-4D97-AF65-F5344CB8AC3E}">
        <p14:creationId xmlns:p14="http://schemas.microsoft.com/office/powerpoint/2010/main" val="412407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BA4645-373B-78A5-100F-2AF9B7A4AE8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120034E-4E22-A9BB-C8E6-1938C16446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F65CFB72-6E8F-D3C4-9420-F826CD41C0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A436FAA-3E9D-90CB-745A-40605FD9C64C}"/>
              </a:ext>
            </a:extLst>
          </p:cNvPr>
          <p:cNvSpPr>
            <a:spLocks noGrp="1"/>
          </p:cNvSpPr>
          <p:nvPr>
            <p:ph type="dt" sz="half" idx="10"/>
          </p:nvPr>
        </p:nvSpPr>
        <p:spPr/>
        <p:txBody>
          <a:bodyPr/>
          <a:lstStyle/>
          <a:p>
            <a:fld id="{3F2E55F6-5301-4EC7-9DFA-66A3A913599B}" type="datetimeFigureOut">
              <a:rPr lang="fr-FR" smtClean="0"/>
              <a:t>27/02/2026</a:t>
            </a:fld>
            <a:endParaRPr lang="fr-FR"/>
          </a:p>
        </p:txBody>
      </p:sp>
      <p:sp>
        <p:nvSpPr>
          <p:cNvPr id="6" name="Espace réservé du pied de page 5">
            <a:extLst>
              <a:ext uri="{FF2B5EF4-FFF2-40B4-BE49-F238E27FC236}">
                <a16:creationId xmlns:a16="http://schemas.microsoft.com/office/drawing/2014/main" id="{EA5644A9-66C4-67F2-9415-69F70B686AC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C9F4018-9DD0-25C5-DFD8-0C740A98E028}"/>
              </a:ext>
            </a:extLst>
          </p:cNvPr>
          <p:cNvSpPr>
            <a:spLocks noGrp="1"/>
          </p:cNvSpPr>
          <p:nvPr>
            <p:ph type="sldNum" sz="quarter" idx="12"/>
          </p:nvPr>
        </p:nvSpPr>
        <p:spPr/>
        <p:txBody>
          <a:bodyPr/>
          <a:lstStyle/>
          <a:p>
            <a:fld id="{5066454C-9A2D-4018-8B62-27A6ACAE8D04}" type="slidenum">
              <a:rPr lang="fr-FR" smtClean="0"/>
              <a:t>‹N°›</a:t>
            </a:fld>
            <a:endParaRPr lang="fr-FR"/>
          </a:p>
        </p:txBody>
      </p:sp>
    </p:spTree>
    <p:extLst>
      <p:ext uri="{BB962C8B-B14F-4D97-AF65-F5344CB8AC3E}">
        <p14:creationId xmlns:p14="http://schemas.microsoft.com/office/powerpoint/2010/main" val="3237361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C9FA73-72AB-7D9B-B323-204AF2C8477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3B5CAA5-1CD9-290B-B474-570275AAB2E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6B8D62A-396D-08D1-D9F9-D92776C18007}"/>
              </a:ext>
            </a:extLst>
          </p:cNvPr>
          <p:cNvSpPr>
            <a:spLocks noGrp="1"/>
          </p:cNvSpPr>
          <p:nvPr>
            <p:ph type="dt" sz="half" idx="10"/>
          </p:nvPr>
        </p:nvSpPr>
        <p:spPr/>
        <p:txBody>
          <a:bodyPr/>
          <a:lstStyle/>
          <a:p>
            <a:fld id="{3F2E55F6-5301-4EC7-9DFA-66A3A913599B}" type="datetimeFigureOut">
              <a:rPr lang="fr-FR" smtClean="0"/>
              <a:t>27/02/2026</a:t>
            </a:fld>
            <a:endParaRPr lang="fr-FR"/>
          </a:p>
        </p:txBody>
      </p:sp>
      <p:sp>
        <p:nvSpPr>
          <p:cNvPr id="5" name="Espace réservé du pied de page 4">
            <a:extLst>
              <a:ext uri="{FF2B5EF4-FFF2-40B4-BE49-F238E27FC236}">
                <a16:creationId xmlns:a16="http://schemas.microsoft.com/office/drawing/2014/main" id="{DD25BDC2-C1D8-824A-FEF8-4463A67678E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FA0AB22-CF15-C775-C737-C56EF986FD96}"/>
              </a:ext>
            </a:extLst>
          </p:cNvPr>
          <p:cNvSpPr>
            <a:spLocks noGrp="1"/>
          </p:cNvSpPr>
          <p:nvPr>
            <p:ph type="sldNum" sz="quarter" idx="12"/>
          </p:nvPr>
        </p:nvSpPr>
        <p:spPr/>
        <p:txBody>
          <a:bodyPr/>
          <a:lstStyle/>
          <a:p>
            <a:fld id="{5066454C-9A2D-4018-8B62-27A6ACAE8D04}" type="slidenum">
              <a:rPr lang="fr-FR" smtClean="0"/>
              <a:t>‹N°›</a:t>
            </a:fld>
            <a:endParaRPr lang="fr-FR"/>
          </a:p>
        </p:txBody>
      </p:sp>
    </p:spTree>
    <p:extLst>
      <p:ext uri="{BB962C8B-B14F-4D97-AF65-F5344CB8AC3E}">
        <p14:creationId xmlns:p14="http://schemas.microsoft.com/office/powerpoint/2010/main" val="2578545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B8B5C63-7E8D-F21F-E84C-6E3520FB7818}"/>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EF81C1E-1D96-AD03-B999-B92FE66AE41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C94DDCC-D09C-BE76-F0A2-5B2B5CF7F979}"/>
              </a:ext>
            </a:extLst>
          </p:cNvPr>
          <p:cNvSpPr>
            <a:spLocks noGrp="1"/>
          </p:cNvSpPr>
          <p:nvPr>
            <p:ph type="dt" sz="half" idx="10"/>
          </p:nvPr>
        </p:nvSpPr>
        <p:spPr/>
        <p:txBody>
          <a:bodyPr/>
          <a:lstStyle/>
          <a:p>
            <a:fld id="{3F2E55F6-5301-4EC7-9DFA-66A3A913599B}" type="datetimeFigureOut">
              <a:rPr lang="fr-FR" smtClean="0"/>
              <a:t>27/02/2026</a:t>
            </a:fld>
            <a:endParaRPr lang="fr-FR"/>
          </a:p>
        </p:txBody>
      </p:sp>
      <p:sp>
        <p:nvSpPr>
          <p:cNvPr id="5" name="Espace réservé du pied de page 4">
            <a:extLst>
              <a:ext uri="{FF2B5EF4-FFF2-40B4-BE49-F238E27FC236}">
                <a16:creationId xmlns:a16="http://schemas.microsoft.com/office/drawing/2014/main" id="{37717368-802D-BC80-14C6-8589E77B28F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C31C691-1C84-CFD8-D30E-05B2EBD05F7D}"/>
              </a:ext>
            </a:extLst>
          </p:cNvPr>
          <p:cNvSpPr>
            <a:spLocks noGrp="1"/>
          </p:cNvSpPr>
          <p:nvPr>
            <p:ph type="sldNum" sz="quarter" idx="12"/>
          </p:nvPr>
        </p:nvSpPr>
        <p:spPr/>
        <p:txBody>
          <a:bodyPr/>
          <a:lstStyle/>
          <a:p>
            <a:fld id="{5066454C-9A2D-4018-8B62-27A6ACAE8D04}" type="slidenum">
              <a:rPr lang="fr-FR" smtClean="0"/>
              <a:t>‹N°›</a:t>
            </a:fld>
            <a:endParaRPr lang="fr-FR"/>
          </a:p>
        </p:txBody>
      </p:sp>
    </p:spTree>
    <p:extLst>
      <p:ext uri="{BB962C8B-B14F-4D97-AF65-F5344CB8AC3E}">
        <p14:creationId xmlns:p14="http://schemas.microsoft.com/office/powerpoint/2010/main" val="2122982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BBE1976-9B9C-FB8B-DE2B-13A92FEBA5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458BE2-C128-47C5-02E8-4CB645A47B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CB043E7-E38B-7C88-B0A8-AB8FCA2A06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2E55F6-5301-4EC7-9DFA-66A3A913599B}" type="datetimeFigureOut">
              <a:rPr lang="fr-FR" smtClean="0"/>
              <a:t>27/02/2026</a:t>
            </a:fld>
            <a:endParaRPr lang="fr-FR"/>
          </a:p>
        </p:txBody>
      </p:sp>
      <p:sp>
        <p:nvSpPr>
          <p:cNvPr id="5" name="Espace réservé du pied de page 4">
            <a:extLst>
              <a:ext uri="{FF2B5EF4-FFF2-40B4-BE49-F238E27FC236}">
                <a16:creationId xmlns:a16="http://schemas.microsoft.com/office/drawing/2014/main" id="{FBF2D6B7-7CFE-98AD-111D-CE957A771D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9961FEE6-AC82-4301-D40F-8C86C03E4A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66454C-9A2D-4018-8B62-27A6ACAE8D04}" type="slidenum">
              <a:rPr lang="fr-FR" smtClean="0"/>
              <a:t>‹N°›</a:t>
            </a:fld>
            <a:endParaRPr lang="fr-FR"/>
          </a:p>
        </p:txBody>
      </p:sp>
    </p:spTree>
    <p:extLst>
      <p:ext uri="{BB962C8B-B14F-4D97-AF65-F5344CB8AC3E}">
        <p14:creationId xmlns:p14="http://schemas.microsoft.com/office/powerpoint/2010/main" val="17290831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9DC36B-368C-AAC5-A164-EBEEA42570A0}"/>
              </a:ext>
            </a:extLst>
          </p:cNvPr>
          <p:cNvSpPr>
            <a:spLocks noGrp="1"/>
          </p:cNvSpPr>
          <p:nvPr>
            <p:ph type="ctrTitle"/>
          </p:nvPr>
        </p:nvSpPr>
        <p:spPr/>
        <p:txBody>
          <a:bodyPr/>
          <a:lstStyle/>
          <a:p>
            <a:r>
              <a:rPr lang="fr-FR" dirty="0"/>
              <a:t>LUXEORA</a:t>
            </a:r>
            <a:br>
              <a:rPr lang="fr-FR" dirty="0"/>
            </a:br>
            <a:r>
              <a:rPr lang="fr-FR" dirty="0"/>
              <a:t>Fashion House</a:t>
            </a:r>
          </a:p>
        </p:txBody>
      </p:sp>
      <p:sp>
        <p:nvSpPr>
          <p:cNvPr id="3" name="Sous-titre 2">
            <a:extLst>
              <a:ext uri="{FF2B5EF4-FFF2-40B4-BE49-F238E27FC236}">
                <a16:creationId xmlns:a16="http://schemas.microsoft.com/office/drawing/2014/main" id="{A13FBF17-57D4-B7F5-C399-E78090265419}"/>
              </a:ext>
            </a:extLst>
          </p:cNvPr>
          <p:cNvSpPr>
            <a:spLocks noGrp="1"/>
          </p:cNvSpPr>
          <p:nvPr>
            <p:ph type="subTitle" idx="1"/>
          </p:nvPr>
        </p:nvSpPr>
        <p:spPr/>
        <p:txBody>
          <a:bodyPr/>
          <a:lstStyle/>
          <a:p>
            <a:r>
              <a:rPr lang="fr-FR" dirty="0"/>
              <a:t>Business Plan</a:t>
            </a:r>
          </a:p>
          <a:p>
            <a:endParaRPr lang="fr-FR" dirty="0"/>
          </a:p>
        </p:txBody>
      </p:sp>
    </p:spTree>
    <p:extLst>
      <p:ext uri="{BB962C8B-B14F-4D97-AF65-F5344CB8AC3E}">
        <p14:creationId xmlns:p14="http://schemas.microsoft.com/office/powerpoint/2010/main" val="2381710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2BBCD1-1155-BA70-4865-9D59B80FA196}"/>
              </a:ext>
            </a:extLst>
          </p:cNvPr>
          <p:cNvSpPr>
            <a:spLocks noGrp="1"/>
          </p:cNvSpPr>
          <p:nvPr>
            <p:ph type="title"/>
          </p:nvPr>
        </p:nvSpPr>
        <p:spPr>
          <a:xfrm>
            <a:off x="838200" y="1"/>
            <a:ext cx="10515600" cy="681036"/>
          </a:xfrm>
        </p:spPr>
        <p:txBody>
          <a:bodyPr>
            <a:normAutofit fontScale="90000"/>
          </a:bodyPr>
          <a:lstStyle/>
          <a:p>
            <a:r>
              <a:rPr lang="fr-FR" dirty="0"/>
              <a:t>PARCOURS DE NOTRE BUSINESS PLAN </a:t>
            </a:r>
          </a:p>
        </p:txBody>
      </p:sp>
      <p:sp>
        <p:nvSpPr>
          <p:cNvPr id="3" name="Espace réservé du contenu 2">
            <a:extLst>
              <a:ext uri="{FF2B5EF4-FFF2-40B4-BE49-F238E27FC236}">
                <a16:creationId xmlns:a16="http://schemas.microsoft.com/office/drawing/2014/main" id="{69CDA516-CB2F-52D4-F172-386225F0B451}"/>
              </a:ext>
            </a:extLst>
          </p:cNvPr>
          <p:cNvSpPr>
            <a:spLocks noGrp="1"/>
          </p:cNvSpPr>
          <p:nvPr>
            <p:ph idx="1"/>
          </p:nvPr>
        </p:nvSpPr>
        <p:spPr>
          <a:xfrm>
            <a:off x="838200" y="809469"/>
            <a:ext cx="10515600" cy="5096656"/>
          </a:xfrm>
        </p:spPr>
        <p:txBody>
          <a:bodyPr/>
          <a:lstStyle/>
          <a:p>
            <a:pPr marL="0" indent="0">
              <a:buNone/>
            </a:pPr>
            <a:r>
              <a:rPr lang="fr-FR" dirty="0"/>
              <a:t>*Présentation de l'entreprise et contexte actuelle</a:t>
            </a:r>
          </a:p>
          <a:p>
            <a:pPr marL="0" indent="0">
              <a:buNone/>
            </a:pPr>
            <a:r>
              <a:rPr lang="fr-FR" dirty="0"/>
              <a:t>*Analyses du marché et de la concurrence</a:t>
            </a:r>
          </a:p>
          <a:p>
            <a:pPr marL="0" indent="0">
              <a:buNone/>
            </a:pPr>
            <a:r>
              <a:rPr lang="fr-FR" dirty="0"/>
              <a:t>*Identification des problèmes</a:t>
            </a:r>
          </a:p>
          <a:p>
            <a:pPr marL="0" indent="0">
              <a:buNone/>
            </a:pPr>
            <a:r>
              <a:rPr lang="fr-FR" dirty="0"/>
              <a:t>*Analyse SWOT</a:t>
            </a:r>
          </a:p>
          <a:p>
            <a:pPr marL="0" indent="0">
              <a:buNone/>
            </a:pPr>
            <a:r>
              <a:rPr lang="fr-FR" dirty="0"/>
              <a:t>*Stratégie de transformation digitale</a:t>
            </a:r>
          </a:p>
          <a:p>
            <a:pPr marL="0" indent="0">
              <a:buNone/>
            </a:pPr>
            <a:r>
              <a:rPr lang="fr-FR" dirty="0"/>
              <a:t>*Présentation de la solution web</a:t>
            </a:r>
          </a:p>
          <a:p>
            <a:pPr marL="0" indent="0">
              <a:buNone/>
            </a:pPr>
            <a:r>
              <a:rPr lang="fr-FR" dirty="0"/>
              <a:t>*Impact attendu sur le chiffre d'affaires</a:t>
            </a:r>
          </a:p>
          <a:p>
            <a:pPr marL="0" indent="0">
              <a:buNone/>
            </a:pPr>
            <a:r>
              <a:rPr lang="fr-FR" dirty="0"/>
              <a:t>*Budget estimatif</a:t>
            </a:r>
          </a:p>
          <a:p>
            <a:pPr marL="0" indent="0">
              <a:buNone/>
            </a:pPr>
            <a:r>
              <a:rPr lang="fr-FR" dirty="0"/>
              <a:t>*Plan de déploiement à 12 mois</a:t>
            </a:r>
          </a:p>
          <a:p>
            <a:pPr marL="0" indent="0">
              <a:buNone/>
            </a:pPr>
            <a:r>
              <a:rPr lang="fr-FR" dirty="0"/>
              <a:t>*Conclusion stratégique et prises de décision </a:t>
            </a:r>
          </a:p>
        </p:txBody>
      </p:sp>
    </p:spTree>
    <p:extLst>
      <p:ext uri="{BB962C8B-B14F-4D97-AF65-F5344CB8AC3E}">
        <p14:creationId xmlns:p14="http://schemas.microsoft.com/office/powerpoint/2010/main" val="631053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51C155-955F-5288-617F-3D06059049C9}"/>
              </a:ext>
            </a:extLst>
          </p:cNvPr>
          <p:cNvSpPr>
            <a:spLocks noGrp="1"/>
          </p:cNvSpPr>
          <p:nvPr>
            <p:ph type="title"/>
          </p:nvPr>
        </p:nvSpPr>
        <p:spPr/>
        <p:txBody>
          <a:bodyPr/>
          <a:lstStyle/>
          <a:p>
            <a:r>
              <a:rPr lang="fr-FR" dirty="0"/>
              <a:t>LUXEORA Fashion house</a:t>
            </a:r>
          </a:p>
        </p:txBody>
      </p:sp>
      <p:pic>
        <p:nvPicPr>
          <p:cNvPr id="6" name="Espace réservé pour une image  5">
            <a:extLst>
              <a:ext uri="{FF2B5EF4-FFF2-40B4-BE49-F238E27FC236}">
                <a16:creationId xmlns:a16="http://schemas.microsoft.com/office/drawing/2014/main" id="{5464BE36-6E61-11FF-9EC9-082505D7F42C}"/>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7802" r="7802"/>
          <a:stretch>
            <a:fillRect/>
          </a:stretch>
        </p:blipFill>
        <p:spPr/>
      </p:pic>
      <p:sp>
        <p:nvSpPr>
          <p:cNvPr id="4" name="Espace réservé du texte 3">
            <a:extLst>
              <a:ext uri="{FF2B5EF4-FFF2-40B4-BE49-F238E27FC236}">
                <a16:creationId xmlns:a16="http://schemas.microsoft.com/office/drawing/2014/main" id="{83B5D71A-4059-7C6D-FFD0-1989048DA6EE}"/>
              </a:ext>
            </a:extLst>
          </p:cNvPr>
          <p:cNvSpPr>
            <a:spLocks noGrp="1"/>
          </p:cNvSpPr>
          <p:nvPr>
            <p:ph type="body" sz="half" idx="2"/>
          </p:nvPr>
        </p:nvSpPr>
        <p:spPr/>
        <p:txBody>
          <a:bodyPr/>
          <a:lstStyle/>
          <a:p>
            <a:r>
              <a:rPr lang="fr-FR" dirty="0"/>
              <a:t>Maison de haute couture homme et femme crée par un collectif d'entrepreneur visionnaire dans l'optique de valoriser notre culture a travers leur œuvre et leur création. Mettant en avant le tissu telle que le Faso Dan </a:t>
            </a:r>
            <a:r>
              <a:rPr lang="fr-FR" dirty="0" err="1"/>
              <a:t>Fani</a:t>
            </a:r>
            <a:r>
              <a:rPr lang="fr-FR" dirty="0"/>
              <a:t> , le taco , le Wax , le Bazin ,le </a:t>
            </a:r>
            <a:r>
              <a:rPr lang="fr-FR" dirty="0" err="1"/>
              <a:t>kente</a:t>
            </a:r>
            <a:r>
              <a:rPr lang="fr-FR" dirty="0"/>
              <a:t>  tout cela a travers des méthodes de couture propre a notre culture .</a:t>
            </a:r>
          </a:p>
          <a:p>
            <a:r>
              <a:rPr lang="fr-FR" dirty="0"/>
              <a:t>       Cependant malgré l’innovation dont cette société fait preuve elle est confronté aujourd’hui a bon nombre de problèmes qui menace sa survie . Nous pouvons dire entre  autre énuméré le manque de clientèle , un service trop restreint dont dû a la taille de leur locaux . Et si cela continue pourra conduire a une fermeture de la boîte </a:t>
            </a:r>
          </a:p>
        </p:txBody>
      </p:sp>
    </p:spTree>
    <p:extLst>
      <p:ext uri="{BB962C8B-B14F-4D97-AF65-F5344CB8AC3E}">
        <p14:creationId xmlns:p14="http://schemas.microsoft.com/office/powerpoint/2010/main" val="3864344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C5E11AB4-0261-CD0F-E20A-CDD36C5D0912}"/>
              </a:ext>
            </a:extLst>
          </p:cNvPr>
          <p:cNvSpPr>
            <a:spLocks noGrp="1"/>
          </p:cNvSpPr>
          <p:nvPr>
            <p:ph type="subTitle" idx="1"/>
          </p:nvPr>
        </p:nvSpPr>
        <p:spPr>
          <a:xfrm>
            <a:off x="1524000" y="0"/>
            <a:ext cx="9144000" cy="6460761"/>
          </a:xfrm>
        </p:spPr>
        <p:txBody>
          <a:bodyPr/>
          <a:lstStyle/>
          <a:p>
            <a:endParaRPr lang="fr-FR" dirty="0"/>
          </a:p>
          <a:p>
            <a:r>
              <a:rPr lang="fr-FR" dirty="0"/>
              <a:t>ANALYSE DU MARCHÉ ET DE LA CONCURRENCE </a:t>
            </a:r>
          </a:p>
          <a:p>
            <a:endParaRPr lang="fr-FR" dirty="0"/>
          </a:p>
          <a:p>
            <a:r>
              <a:rPr lang="fr-FR" dirty="0"/>
              <a:t>Au Benin, bon nombre d'entreprise concurrence fortement la maison LUXEORA dans le domaine telle que la maison LOLO ANDOCHE , la maison H&amp;V qui aujourd’hui concurrence le marché de la haute couture béninoise avec un chiffre d'affaires atteignant des dizaines de millions de francs</a:t>
            </a:r>
          </a:p>
          <a:p>
            <a:r>
              <a:rPr lang="fr-FR" dirty="0"/>
              <a:t>Avec la mondialisation et l'innovation chacun veux ce démarqué a sa manière dans son parler son savoir vivre et très récemment dans l'habillement et de surcroit un habillement reflétant leurs origines leur cultures et leur histoire. Ce qui transforme le stylisme en nouveau centre d'intérêt de notre siècle.</a:t>
            </a:r>
          </a:p>
          <a:p>
            <a:r>
              <a:rPr lang="fr-FR" dirty="0"/>
              <a:t>De plus avec une Afrique qui évolue le besoin de ce sentir bien dans sa peau devient une priorité ce qui fait du marché du stylisme en Afrique et plus particulièrement au Bénin l’un des nouveaux secteurs florissant de nos 10 dernières années </a:t>
            </a:r>
          </a:p>
        </p:txBody>
      </p:sp>
    </p:spTree>
    <p:extLst>
      <p:ext uri="{BB962C8B-B14F-4D97-AF65-F5344CB8AC3E}">
        <p14:creationId xmlns:p14="http://schemas.microsoft.com/office/powerpoint/2010/main" val="24425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CF58E2-A677-A530-EC5D-920DD7C3E701}"/>
              </a:ext>
            </a:extLst>
          </p:cNvPr>
          <p:cNvSpPr>
            <a:spLocks noGrp="1"/>
          </p:cNvSpPr>
          <p:nvPr>
            <p:ph type="title"/>
          </p:nvPr>
        </p:nvSpPr>
        <p:spPr>
          <a:xfrm>
            <a:off x="838200" y="0"/>
            <a:ext cx="10515600" cy="479684"/>
          </a:xfrm>
        </p:spPr>
        <p:txBody>
          <a:bodyPr>
            <a:normAutofit fontScale="90000"/>
          </a:bodyPr>
          <a:lstStyle/>
          <a:p>
            <a:r>
              <a:rPr lang="fr-FR" dirty="0"/>
              <a:t>PROBLÈME DE LA SOCIÉTÉ </a:t>
            </a:r>
          </a:p>
        </p:txBody>
      </p:sp>
      <p:sp>
        <p:nvSpPr>
          <p:cNvPr id="3" name="Espace réservé du contenu 2">
            <a:extLst>
              <a:ext uri="{FF2B5EF4-FFF2-40B4-BE49-F238E27FC236}">
                <a16:creationId xmlns:a16="http://schemas.microsoft.com/office/drawing/2014/main" id="{D58269C3-C1A5-FE07-E68F-2F05682A8725}"/>
              </a:ext>
            </a:extLst>
          </p:cNvPr>
          <p:cNvSpPr>
            <a:spLocks noGrp="1"/>
          </p:cNvSpPr>
          <p:nvPr>
            <p:ph idx="1"/>
          </p:nvPr>
        </p:nvSpPr>
        <p:spPr>
          <a:xfrm>
            <a:off x="838200" y="854439"/>
            <a:ext cx="10515600" cy="5036696"/>
          </a:xfrm>
        </p:spPr>
        <p:txBody>
          <a:bodyPr/>
          <a:lstStyle/>
          <a:p>
            <a:r>
              <a:rPr lang="fr-FR" dirty="0"/>
              <a:t>La maison LUXEORA depuis près de deux ans après son ouverture rencontre bon nombre de problèmes qu’il soit interne ou externe , ce qui a pour de cause de faire tombé la société dans l'oublie .</a:t>
            </a:r>
          </a:p>
          <a:p>
            <a:r>
              <a:rPr lang="fr-FR" dirty="0"/>
              <a:t>  Suite aux différentes enquêtes nous avons réussi a décelé les problèmes de cette société. Ils sont énumérés ci-dessous :</a:t>
            </a:r>
          </a:p>
          <a:p>
            <a:r>
              <a:rPr lang="fr-FR" dirty="0"/>
              <a:t>     *le manque ou l'absence de visite dans le chaud room de l'entreprise</a:t>
            </a:r>
          </a:p>
          <a:p>
            <a:pPr marL="0" indent="0">
              <a:buNone/>
            </a:pPr>
            <a:r>
              <a:rPr lang="fr-FR" dirty="0"/>
              <a:t>        *mauvaise représentativité de la société sur les réseaux ( TIKTOK ;Instagram; Facebook)</a:t>
            </a:r>
          </a:p>
          <a:p>
            <a:pPr marL="0" indent="0">
              <a:buNone/>
            </a:pPr>
            <a:r>
              <a:rPr lang="fr-FR" dirty="0"/>
              <a:t>        *aucune prise en compte de l'avis de la clientèle</a:t>
            </a:r>
          </a:p>
          <a:p>
            <a:pPr marL="0" indent="0">
              <a:buNone/>
            </a:pPr>
            <a:r>
              <a:rPr lang="fr-FR" dirty="0"/>
              <a:t>        *manque d'accompagnement personnel des clients </a:t>
            </a:r>
          </a:p>
        </p:txBody>
      </p:sp>
    </p:spTree>
    <p:extLst>
      <p:ext uri="{BB962C8B-B14F-4D97-AF65-F5344CB8AC3E}">
        <p14:creationId xmlns:p14="http://schemas.microsoft.com/office/powerpoint/2010/main" val="4283835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96B17F-62BC-8918-2498-3C1F13130F18}"/>
              </a:ext>
            </a:extLst>
          </p:cNvPr>
          <p:cNvSpPr>
            <a:spLocks noGrp="1"/>
          </p:cNvSpPr>
          <p:nvPr>
            <p:ph type="title"/>
          </p:nvPr>
        </p:nvSpPr>
        <p:spPr>
          <a:xfrm>
            <a:off x="838200" y="1"/>
            <a:ext cx="10515600" cy="371474"/>
          </a:xfrm>
        </p:spPr>
        <p:txBody>
          <a:bodyPr>
            <a:normAutofit fontScale="90000"/>
          </a:bodyPr>
          <a:lstStyle/>
          <a:p>
            <a:r>
              <a:rPr lang="fr-FR" dirty="0"/>
              <a:t>ANALYSE SWOT</a:t>
            </a:r>
          </a:p>
        </p:txBody>
      </p:sp>
      <p:graphicFrame>
        <p:nvGraphicFramePr>
          <p:cNvPr id="5" name="Espace réservé du contenu 4">
            <a:extLst>
              <a:ext uri="{FF2B5EF4-FFF2-40B4-BE49-F238E27FC236}">
                <a16:creationId xmlns:a16="http://schemas.microsoft.com/office/drawing/2014/main" id="{9C2A2BF7-FC5D-CFB4-C56B-74E6ED4F6B88}"/>
              </a:ext>
            </a:extLst>
          </p:cNvPr>
          <p:cNvGraphicFramePr>
            <a:graphicFrameLocks noGrp="1"/>
          </p:cNvGraphicFramePr>
          <p:nvPr>
            <p:ph idx="1"/>
            <p:extLst>
              <p:ext uri="{D42A27DB-BD31-4B8C-83A1-F6EECF244321}">
                <p14:modId xmlns:p14="http://schemas.microsoft.com/office/powerpoint/2010/main" val="2483491517"/>
              </p:ext>
            </p:extLst>
          </p:nvPr>
        </p:nvGraphicFramePr>
        <p:xfrm>
          <a:off x="838200" y="371475"/>
          <a:ext cx="10515600" cy="4845102"/>
        </p:xfrm>
        <a:graphic>
          <a:graphicData uri="http://schemas.openxmlformats.org/drawingml/2006/table">
            <a:tbl>
              <a:tblPr firstRow="1" bandRow="1">
                <a:tableStyleId>{21E4AEA4-8DFA-4A89-87EB-49C32662AFE0}</a:tableStyleId>
              </a:tblPr>
              <a:tblGrid>
                <a:gridCol w="2628900">
                  <a:extLst>
                    <a:ext uri="{9D8B030D-6E8A-4147-A177-3AD203B41FA5}">
                      <a16:colId xmlns:a16="http://schemas.microsoft.com/office/drawing/2014/main" val="914374350"/>
                    </a:ext>
                  </a:extLst>
                </a:gridCol>
                <a:gridCol w="2628900">
                  <a:extLst>
                    <a:ext uri="{9D8B030D-6E8A-4147-A177-3AD203B41FA5}">
                      <a16:colId xmlns:a16="http://schemas.microsoft.com/office/drawing/2014/main" val="1439267280"/>
                    </a:ext>
                  </a:extLst>
                </a:gridCol>
                <a:gridCol w="2628900">
                  <a:extLst>
                    <a:ext uri="{9D8B030D-6E8A-4147-A177-3AD203B41FA5}">
                      <a16:colId xmlns:a16="http://schemas.microsoft.com/office/drawing/2014/main" val="3107618106"/>
                    </a:ext>
                  </a:extLst>
                </a:gridCol>
                <a:gridCol w="2628900">
                  <a:extLst>
                    <a:ext uri="{9D8B030D-6E8A-4147-A177-3AD203B41FA5}">
                      <a16:colId xmlns:a16="http://schemas.microsoft.com/office/drawing/2014/main" val="1730240993"/>
                    </a:ext>
                  </a:extLst>
                </a:gridCol>
              </a:tblGrid>
              <a:tr h="387608">
                <a:tc>
                  <a:txBody>
                    <a:bodyPr/>
                    <a:lstStyle/>
                    <a:p>
                      <a:r>
                        <a:rPr lang="fr-FR" dirty="0"/>
                        <a:t>FORCE</a:t>
                      </a:r>
                    </a:p>
                  </a:txBody>
                  <a:tcPr/>
                </a:tc>
                <a:tc>
                  <a:txBody>
                    <a:bodyPr/>
                    <a:lstStyle/>
                    <a:p>
                      <a:r>
                        <a:rPr lang="fr-FR" dirty="0"/>
                        <a:t>FAIBLESSE </a:t>
                      </a:r>
                    </a:p>
                  </a:txBody>
                  <a:tcPr/>
                </a:tc>
                <a:tc>
                  <a:txBody>
                    <a:bodyPr/>
                    <a:lstStyle/>
                    <a:p>
                      <a:r>
                        <a:rPr lang="fr-FR" dirty="0"/>
                        <a:t>OPPORTUNITÉ </a:t>
                      </a:r>
                    </a:p>
                  </a:txBody>
                  <a:tcPr/>
                </a:tc>
                <a:tc>
                  <a:txBody>
                    <a:bodyPr/>
                    <a:lstStyle/>
                    <a:p>
                      <a:r>
                        <a:rPr lang="fr-FR" dirty="0"/>
                        <a:t>MENACE </a:t>
                      </a:r>
                    </a:p>
                  </a:txBody>
                  <a:tcPr/>
                </a:tc>
                <a:extLst>
                  <a:ext uri="{0D108BD9-81ED-4DB2-BD59-A6C34878D82A}">
                    <a16:rowId xmlns:a16="http://schemas.microsoft.com/office/drawing/2014/main" val="3713520117"/>
                  </a:ext>
                </a:extLst>
              </a:tr>
              <a:tr h="4457494">
                <a:tc>
                  <a:txBody>
                    <a:bodyPr/>
                    <a:lstStyle/>
                    <a:p>
                      <a:r>
                        <a:rPr lang="fr-FR" dirty="0"/>
                        <a:t>*La variété de nos tissus fond de nous l’une des sociétés  les plus compétitif dans la sous région </a:t>
                      </a:r>
                    </a:p>
                    <a:p>
                      <a:endParaRPr lang="fr-FR" dirty="0"/>
                    </a:p>
                    <a:p>
                      <a:r>
                        <a:rPr lang="fr-FR" dirty="0"/>
                        <a:t>*La jeunesse de l'équipe de LUXEORA en fait un bloc dynamique et plein de vigueur </a:t>
                      </a:r>
                    </a:p>
                  </a:txBody>
                  <a:tcPr/>
                </a:tc>
                <a:tc>
                  <a:txBody>
                    <a:bodyPr/>
                    <a:lstStyle/>
                    <a:p>
                      <a:r>
                        <a:rPr lang="fr-FR" dirty="0"/>
                        <a:t>*Le manque communication et d'interaction avec la clientèle</a:t>
                      </a:r>
                    </a:p>
                    <a:p>
                      <a:r>
                        <a:rPr lang="fr-FR" dirty="0"/>
                        <a:t> </a:t>
                      </a:r>
                    </a:p>
                    <a:p>
                      <a:r>
                        <a:rPr lang="fr-FR" dirty="0"/>
                        <a:t>*l'absence total de la société sur la toile</a:t>
                      </a:r>
                    </a:p>
                    <a:p>
                      <a:endParaRPr lang="fr-FR" dirty="0"/>
                    </a:p>
                    <a:p>
                      <a:r>
                        <a:rPr lang="fr-FR" dirty="0"/>
                        <a:t>*absence de compétitivité avec nos concurrents</a:t>
                      </a:r>
                    </a:p>
                    <a:p>
                      <a:endParaRPr lang="fr-FR" dirty="0"/>
                    </a:p>
                    <a:p>
                      <a:r>
                        <a:rPr lang="fr-FR" dirty="0"/>
                        <a:t>*mauvaise organisation interne pour la structuration du travail</a:t>
                      </a:r>
                    </a:p>
                  </a:txBody>
                  <a:tcPr/>
                </a:tc>
                <a:tc>
                  <a:txBody>
                    <a:bodyPr/>
                    <a:lstStyle/>
                    <a:p>
                      <a:r>
                        <a:rPr lang="fr-FR" dirty="0"/>
                        <a:t>*possibilité de pouvoir importer le concept au-delà de nos frontières</a:t>
                      </a:r>
                    </a:p>
                    <a:p>
                      <a:endParaRPr lang="fr-FR" dirty="0"/>
                    </a:p>
                    <a:p>
                      <a:r>
                        <a:rPr lang="fr-FR" dirty="0"/>
                        <a:t>*l'amélioration de nos approvisionnements en tissu grâce au PAG du gouvernement actuel </a:t>
                      </a:r>
                    </a:p>
                  </a:txBody>
                  <a:tcPr/>
                </a:tc>
                <a:tc>
                  <a:txBody>
                    <a:bodyPr/>
                    <a:lstStyle/>
                    <a:p>
                      <a:r>
                        <a:rPr lang="fr-FR" dirty="0"/>
                        <a:t>*le désintérêt total de la jeunesse vis-à-vis de nos produits</a:t>
                      </a:r>
                    </a:p>
                    <a:p>
                      <a:endParaRPr lang="fr-FR" dirty="0"/>
                    </a:p>
                    <a:p>
                      <a:r>
                        <a:rPr lang="fr-FR" dirty="0"/>
                        <a:t>*le manque de fonds</a:t>
                      </a:r>
                    </a:p>
                  </a:txBody>
                  <a:tcPr/>
                </a:tc>
                <a:extLst>
                  <a:ext uri="{0D108BD9-81ED-4DB2-BD59-A6C34878D82A}">
                    <a16:rowId xmlns:a16="http://schemas.microsoft.com/office/drawing/2014/main" val="3872980357"/>
                  </a:ext>
                </a:extLst>
              </a:tr>
            </a:tbl>
          </a:graphicData>
        </a:graphic>
      </p:graphicFrame>
    </p:spTree>
    <p:extLst>
      <p:ext uri="{BB962C8B-B14F-4D97-AF65-F5344CB8AC3E}">
        <p14:creationId xmlns:p14="http://schemas.microsoft.com/office/powerpoint/2010/main" val="1527229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BBB160-0A93-9772-B0FE-178105628EAB}"/>
              </a:ext>
            </a:extLst>
          </p:cNvPr>
          <p:cNvSpPr>
            <a:spLocks noGrp="1"/>
          </p:cNvSpPr>
          <p:nvPr>
            <p:ph type="title"/>
          </p:nvPr>
        </p:nvSpPr>
        <p:spPr>
          <a:xfrm>
            <a:off x="838200" y="153192"/>
            <a:ext cx="10515600" cy="221562"/>
          </a:xfrm>
        </p:spPr>
        <p:txBody>
          <a:bodyPr>
            <a:normAutofit fontScale="90000"/>
          </a:bodyPr>
          <a:lstStyle/>
          <a:p>
            <a:r>
              <a:rPr lang="fr-FR" dirty="0"/>
              <a:t>STRATÉGIE DE TRANSFORMATION DIGITAL</a:t>
            </a:r>
          </a:p>
        </p:txBody>
      </p:sp>
      <p:sp>
        <p:nvSpPr>
          <p:cNvPr id="3" name="Espace réservé du contenu 2">
            <a:extLst>
              <a:ext uri="{FF2B5EF4-FFF2-40B4-BE49-F238E27FC236}">
                <a16:creationId xmlns:a16="http://schemas.microsoft.com/office/drawing/2014/main" id="{543FD38C-C4D5-E4ED-464B-B6DDCD2A9ECE}"/>
              </a:ext>
            </a:extLst>
          </p:cNvPr>
          <p:cNvSpPr>
            <a:spLocks noGrp="1"/>
          </p:cNvSpPr>
          <p:nvPr>
            <p:ph idx="1"/>
          </p:nvPr>
        </p:nvSpPr>
        <p:spPr>
          <a:xfrm>
            <a:off x="838200" y="599607"/>
            <a:ext cx="10515600" cy="4886793"/>
          </a:xfrm>
        </p:spPr>
        <p:txBody>
          <a:bodyPr/>
          <a:lstStyle/>
          <a:p>
            <a:r>
              <a:rPr lang="fr-FR" dirty="0"/>
              <a:t>Nous sommes a l’ère du numérique et il faut savoir que l'état actuelle des choses pour promouvoir toute entreprise l'appui des réseau sociaux est indispensable pour une meilleure avancée des choses</a:t>
            </a:r>
          </a:p>
          <a:p>
            <a:r>
              <a:rPr lang="fr-FR" dirty="0"/>
              <a:t>S’est a cela que pour promouvoir la maison LUXEORA nous allons mettre en place une campagne accrue de publicité pour mettre en avant notre société et cela travers:</a:t>
            </a:r>
          </a:p>
          <a:p>
            <a:r>
              <a:rPr lang="fr-FR" dirty="0"/>
              <a:t>     *la création de pages web pour permettre l'accès de nos produits a nos clients</a:t>
            </a:r>
          </a:p>
          <a:p>
            <a:r>
              <a:rPr lang="fr-FR" dirty="0"/>
              <a:t>     *la publicité a travers les influenceurs sur TIKTOK et Instagram</a:t>
            </a:r>
          </a:p>
          <a:p>
            <a:r>
              <a:rPr lang="fr-FR" dirty="0"/>
              <a:t>     *la collaboration avec des chaines de télé pour la diffusion de nos programmes publicitaires </a:t>
            </a:r>
          </a:p>
        </p:txBody>
      </p:sp>
    </p:spTree>
    <p:extLst>
      <p:ext uri="{BB962C8B-B14F-4D97-AF65-F5344CB8AC3E}">
        <p14:creationId xmlns:p14="http://schemas.microsoft.com/office/powerpoint/2010/main" val="3128427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4BE179-9F09-9458-242E-4FE4FB0DF8E6}"/>
              </a:ext>
            </a:extLst>
          </p:cNvPr>
          <p:cNvSpPr>
            <a:spLocks noGrp="1"/>
          </p:cNvSpPr>
          <p:nvPr>
            <p:ph type="title"/>
          </p:nvPr>
        </p:nvSpPr>
        <p:spPr/>
        <p:txBody>
          <a:bodyPr/>
          <a:lstStyle/>
          <a:p>
            <a:r>
              <a:rPr lang="fr-FR" dirty="0"/>
              <a:t>SOLUTION WEB</a:t>
            </a:r>
          </a:p>
        </p:txBody>
      </p:sp>
      <p:sp>
        <p:nvSpPr>
          <p:cNvPr id="3" name="Espace réservé du contenu 2">
            <a:extLst>
              <a:ext uri="{FF2B5EF4-FFF2-40B4-BE49-F238E27FC236}">
                <a16:creationId xmlns:a16="http://schemas.microsoft.com/office/drawing/2014/main" id="{84AE7922-2E43-6FBF-F654-FB1E317E1958}"/>
              </a:ext>
            </a:extLst>
          </p:cNvPr>
          <p:cNvSpPr>
            <a:spLocks noGrp="1"/>
          </p:cNvSpPr>
          <p:nvPr>
            <p:ph idx="1"/>
          </p:nvPr>
        </p:nvSpPr>
        <p:spPr/>
        <p:txBody>
          <a:bodyPr/>
          <a:lstStyle/>
          <a:p>
            <a:pPr marL="0" indent="0">
              <a:buNone/>
            </a:pPr>
            <a:r>
              <a:rPr lang="fr-FR" dirty="0"/>
              <a:t>Comme solution pour vulgarisé notre projet, nous avons apporter bon nombre d'amélioration amélioration a notre page web et tout cela en appuie avec la médiatisation sur les réseaux qui donne un véritable </a:t>
            </a:r>
            <a:r>
              <a:rPr lang="fr-FR"/>
              <a:t>plus à notre projet </a:t>
            </a:r>
            <a:endParaRPr lang="fr-FR" dirty="0"/>
          </a:p>
        </p:txBody>
      </p:sp>
    </p:spTree>
    <p:extLst>
      <p:ext uri="{BB962C8B-B14F-4D97-AF65-F5344CB8AC3E}">
        <p14:creationId xmlns:p14="http://schemas.microsoft.com/office/powerpoint/2010/main" val="1932638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8A052-779D-C17A-B731-7EC60B730EC5}"/>
              </a:ext>
            </a:extLst>
          </p:cNvPr>
          <p:cNvSpPr>
            <a:spLocks noGrp="1"/>
          </p:cNvSpPr>
          <p:nvPr>
            <p:ph type="title"/>
          </p:nvPr>
        </p:nvSpPr>
        <p:spPr>
          <a:xfrm>
            <a:off x="838200" y="104931"/>
            <a:ext cx="10515600" cy="719528"/>
          </a:xfrm>
        </p:spPr>
        <p:txBody>
          <a:bodyPr>
            <a:normAutofit fontScale="90000"/>
          </a:bodyPr>
          <a:lstStyle/>
          <a:p>
            <a:r>
              <a:rPr lang="fr-FR" dirty="0"/>
              <a:t>IMPACT SUR LE CHIFFRE D'AFFAIRES ET BUDGET </a:t>
            </a:r>
            <a:br>
              <a:rPr lang="fr-FR" dirty="0"/>
            </a:br>
            <a:r>
              <a:rPr lang="fr-FR" dirty="0"/>
              <a:t>                               ESTIMATIF</a:t>
            </a:r>
          </a:p>
        </p:txBody>
      </p:sp>
      <p:sp>
        <p:nvSpPr>
          <p:cNvPr id="3" name="Espace réservé du contenu 2">
            <a:extLst>
              <a:ext uri="{FF2B5EF4-FFF2-40B4-BE49-F238E27FC236}">
                <a16:creationId xmlns:a16="http://schemas.microsoft.com/office/drawing/2014/main" id="{BC987324-5190-A6B9-9C58-1ADF839C5F65}"/>
              </a:ext>
            </a:extLst>
          </p:cNvPr>
          <p:cNvSpPr>
            <a:spLocks noGrp="1"/>
          </p:cNvSpPr>
          <p:nvPr>
            <p:ph idx="1"/>
          </p:nvPr>
        </p:nvSpPr>
        <p:spPr>
          <a:xfrm>
            <a:off x="838200" y="824459"/>
            <a:ext cx="10515600" cy="6033540"/>
          </a:xfrm>
        </p:spPr>
        <p:txBody>
          <a:bodyPr/>
          <a:lstStyle/>
          <a:p>
            <a:pPr marL="0" indent="0">
              <a:buNone/>
            </a:pPr>
            <a:r>
              <a:rPr lang="fr-FR" dirty="0"/>
              <a:t>Le business plan en cours apportera d'important changement pour la maison LUXEORA si il est suivie a la lettre car il impactera fortement le chiffre d'affaires . C’est à se effet que nous présentons le budget estimatif : concernant notre matière de bases les tissus africains nous estimons pour l'année un montant de 1.390.000 millions de francs</a:t>
            </a:r>
          </a:p>
        </p:txBody>
      </p:sp>
      <p:graphicFrame>
        <p:nvGraphicFramePr>
          <p:cNvPr id="6" name="Tableau 5">
            <a:extLst>
              <a:ext uri="{FF2B5EF4-FFF2-40B4-BE49-F238E27FC236}">
                <a16:creationId xmlns:a16="http://schemas.microsoft.com/office/drawing/2014/main" id="{14B70A3E-1787-2346-DBFE-7452520F0321}"/>
              </a:ext>
            </a:extLst>
          </p:cNvPr>
          <p:cNvGraphicFramePr>
            <a:graphicFrameLocks noGrp="1"/>
          </p:cNvGraphicFramePr>
          <p:nvPr>
            <p:extLst>
              <p:ext uri="{D42A27DB-BD31-4B8C-83A1-F6EECF244321}">
                <p14:modId xmlns:p14="http://schemas.microsoft.com/office/powerpoint/2010/main" val="758997537"/>
              </p:ext>
            </p:extLst>
          </p:nvPr>
        </p:nvGraphicFramePr>
        <p:xfrm>
          <a:off x="2032000" y="2848130"/>
          <a:ext cx="8128000" cy="3781276"/>
        </p:xfrm>
        <a:graphic>
          <a:graphicData uri="http://schemas.openxmlformats.org/drawingml/2006/table">
            <a:tbl>
              <a:tblPr firstRow="1" bandRow="1">
                <a:tableStyleId>{18603FDC-E32A-4AB5-989C-0864C3EAD2B8}</a:tableStyleId>
              </a:tblPr>
              <a:tblGrid>
                <a:gridCol w="2032000">
                  <a:extLst>
                    <a:ext uri="{9D8B030D-6E8A-4147-A177-3AD203B41FA5}">
                      <a16:colId xmlns:a16="http://schemas.microsoft.com/office/drawing/2014/main" val="133481320"/>
                    </a:ext>
                  </a:extLst>
                </a:gridCol>
                <a:gridCol w="2032000">
                  <a:extLst>
                    <a:ext uri="{9D8B030D-6E8A-4147-A177-3AD203B41FA5}">
                      <a16:colId xmlns:a16="http://schemas.microsoft.com/office/drawing/2014/main" val="3935625496"/>
                    </a:ext>
                  </a:extLst>
                </a:gridCol>
                <a:gridCol w="2032000">
                  <a:extLst>
                    <a:ext uri="{9D8B030D-6E8A-4147-A177-3AD203B41FA5}">
                      <a16:colId xmlns:a16="http://schemas.microsoft.com/office/drawing/2014/main" val="1156153310"/>
                    </a:ext>
                  </a:extLst>
                </a:gridCol>
                <a:gridCol w="2032000">
                  <a:extLst>
                    <a:ext uri="{9D8B030D-6E8A-4147-A177-3AD203B41FA5}">
                      <a16:colId xmlns:a16="http://schemas.microsoft.com/office/drawing/2014/main" val="1341261339"/>
                    </a:ext>
                  </a:extLst>
                </a:gridCol>
              </a:tblGrid>
              <a:tr h="945319">
                <a:tc>
                  <a:txBody>
                    <a:bodyPr/>
                    <a:lstStyle/>
                    <a:p>
                      <a:endParaRPr lang="fr-FR" dirty="0"/>
                    </a:p>
                  </a:txBody>
                  <a:tcPr/>
                </a:tc>
                <a:tc>
                  <a:txBody>
                    <a:bodyPr/>
                    <a:lstStyle/>
                    <a:p>
                      <a:endParaRPr lang="fr-FR" dirty="0"/>
                    </a:p>
                    <a:p>
                      <a:r>
                        <a:rPr lang="fr-FR" dirty="0"/>
                        <a:t>  FASO DAN FANI</a:t>
                      </a:r>
                    </a:p>
                  </a:txBody>
                  <a:tcPr/>
                </a:tc>
                <a:tc>
                  <a:txBody>
                    <a:bodyPr/>
                    <a:lstStyle/>
                    <a:p>
                      <a:endParaRPr lang="fr-FR" dirty="0"/>
                    </a:p>
                    <a:p>
                      <a:r>
                        <a:rPr lang="fr-FR" dirty="0"/>
                        <a:t>          KANTE</a:t>
                      </a:r>
                    </a:p>
                  </a:txBody>
                  <a:tcPr/>
                </a:tc>
                <a:tc>
                  <a:txBody>
                    <a:bodyPr/>
                    <a:lstStyle/>
                    <a:p>
                      <a:endParaRPr lang="fr-FR" dirty="0"/>
                    </a:p>
                    <a:p>
                      <a:r>
                        <a:rPr lang="fr-FR" dirty="0"/>
                        <a:t>             WAX</a:t>
                      </a:r>
                    </a:p>
                  </a:txBody>
                  <a:tcPr/>
                </a:tc>
                <a:extLst>
                  <a:ext uri="{0D108BD9-81ED-4DB2-BD59-A6C34878D82A}">
                    <a16:rowId xmlns:a16="http://schemas.microsoft.com/office/drawing/2014/main" val="1458132925"/>
                  </a:ext>
                </a:extLst>
              </a:tr>
              <a:tr h="945319">
                <a:tc>
                  <a:txBody>
                    <a:bodyPr/>
                    <a:lstStyle/>
                    <a:p>
                      <a:r>
                        <a:rPr lang="fr-FR" dirty="0"/>
                        <a:t> </a:t>
                      </a:r>
                    </a:p>
                    <a:p>
                      <a:r>
                        <a:rPr lang="fr-FR" dirty="0"/>
                        <a:t>           GOLD</a:t>
                      </a:r>
                    </a:p>
                  </a:txBody>
                  <a:tcPr/>
                </a:tc>
                <a:tc>
                  <a:txBody>
                    <a:bodyPr/>
                    <a:lstStyle/>
                    <a:p>
                      <a:r>
                        <a:rPr lang="fr-FR" dirty="0"/>
                        <a:t>20 mètres soit 15 milles le mètre </a:t>
                      </a:r>
                    </a:p>
                  </a:txBody>
                  <a:tcPr/>
                </a:tc>
                <a:tc>
                  <a:txBody>
                    <a:bodyPr/>
                    <a:lstStyle/>
                    <a:p>
                      <a:r>
                        <a:rPr lang="fr-FR" dirty="0"/>
                        <a:t>20 mètres soit 10 milles le mètres </a:t>
                      </a:r>
                    </a:p>
                  </a:txBody>
                  <a:tcPr/>
                </a:tc>
                <a:tc>
                  <a:txBody>
                    <a:bodyPr/>
                    <a:lstStyle/>
                    <a:p>
                      <a:r>
                        <a:rPr lang="fr-FR" dirty="0"/>
                        <a:t>20 mètres soit 12 milles le mètre </a:t>
                      </a:r>
                    </a:p>
                  </a:txBody>
                  <a:tcPr/>
                </a:tc>
                <a:extLst>
                  <a:ext uri="{0D108BD9-81ED-4DB2-BD59-A6C34878D82A}">
                    <a16:rowId xmlns:a16="http://schemas.microsoft.com/office/drawing/2014/main" val="2287806547"/>
                  </a:ext>
                </a:extLst>
              </a:tr>
              <a:tr h="945319">
                <a:tc>
                  <a:txBody>
                    <a:bodyPr/>
                    <a:lstStyle/>
                    <a:p>
                      <a:endParaRPr lang="fr-FR" dirty="0"/>
                    </a:p>
                    <a:p>
                      <a:r>
                        <a:rPr lang="fr-FR" dirty="0"/>
                        <a:t>        PREMIUM </a:t>
                      </a:r>
                    </a:p>
                  </a:txBody>
                  <a:tcPr/>
                </a:tc>
                <a:tc>
                  <a:txBody>
                    <a:bodyPr/>
                    <a:lstStyle/>
                    <a:p>
                      <a:r>
                        <a:rPr lang="fr-FR" dirty="0"/>
                        <a:t>20 mètres soit 7 milles le mètres </a:t>
                      </a:r>
                    </a:p>
                  </a:txBody>
                  <a:tcPr/>
                </a:tc>
                <a:tc>
                  <a:txBody>
                    <a:bodyPr/>
                    <a:lstStyle/>
                    <a:p>
                      <a:r>
                        <a:rPr lang="fr-FR" dirty="0"/>
                        <a:t>20 mètres soit 4.5 milles le mètre </a:t>
                      </a:r>
                    </a:p>
                  </a:txBody>
                  <a:tcPr/>
                </a:tc>
                <a:tc>
                  <a:txBody>
                    <a:bodyPr/>
                    <a:lstStyle/>
                    <a:p>
                      <a:r>
                        <a:rPr lang="fr-FR" dirty="0"/>
                        <a:t>20 mètres soit 7 milles le mètre </a:t>
                      </a:r>
                    </a:p>
                  </a:txBody>
                  <a:tcPr/>
                </a:tc>
                <a:extLst>
                  <a:ext uri="{0D108BD9-81ED-4DB2-BD59-A6C34878D82A}">
                    <a16:rowId xmlns:a16="http://schemas.microsoft.com/office/drawing/2014/main" val="1235744314"/>
                  </a:ext>
                </a:extLst>
              </a:tr>
              <a:tr h="945319">
                <a:tc>
                  <a:txBody>
                    <a:bodyPr/>
                    <a:lstStyle/>
                    <a:p>
                      <a:r>
                        <a:rPr lang="fr-FR" dirty="0"/>
                        <a:t> </a:t>
                      </a:r>
                    </a:p>
                    <a:p>
                      <a:r>
                        <a:rPr lang="fr-FR" dirty="0"/>
                        <a:t>        STANDARD </a:t>
                      </a:r>
                    </a:p>
                  </a:txBody>
                  <a:tcPr/>
                </a:tc>
                <a:tc>
                  <a:txBody>
                    <a:bodyPr/>
                    <a:lstStyle/>
                    <a:p>
                      <a:r>
                        <a:rPr lang="fr-FR" dirty="0"/>
                        <a:t>30 mètres soit 4 milles le mètre </a:t>
                      </a:r>
                    </a:p>
                  </a:txBody>
                  <a:tcPr/>
                </a:tc>
                <a:tc>
                  <a:txBody>
                    <a:bodyPr/>
                    <a:lstStyle/>
                    <a:p>
                      <a:r>
                        <a:rPr lang="fr-FR" dirty="0"/>
                        <a:t>30 mètres soit 3 milles le mètres </a:t>
                      </a:r>
                    </a:p>
                  </a:txBody>
                  <a:tcPr/>
                </a:tc>
                <a:tc>
                  <a:txBody>
                    <a:bodyPr/>
                    <a:lstStyle/>
                    <a:p>
                      <a:r>
                        <a:rPr lang="fr-FR" dirty="0"/>
                        <a:t>30 mètres soit 2 milles le mètre </a:t>
                      </a:r>
                    </a:p>
                  </a:txBody>
                  <a:tcPr/>
                </a:tc>
                <a:extLst>
                  <a:ext uri="{0D108BD9-81ED-4DB2-BD59-A6C34878D82A}">
                    <a16:rowId xmlns:a16="http://schemas.microsoft.com/office/drawing/2014/main" val="2594781356"/>
                  </a:ext>
                </a:extLst>
              </a:tr>
            </a:tbl>
          </a:graphicData>
        </a:graphic>
      </p:graphicFrame>
    </p:spTree>
    <p:extLst>
      <p:ext uri="{BB962C8B-B14F-4D97-AF65-F5344CB8AC3E}">
        <p14:creationId xmlns:p14="http://schemas.microsoft.com/office/powerpoint/2010/main" val="746712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E933B0-D609-95B5-DCC1-85BCBEC28CCF}"/>
              </a:ext>
            </a:extLst>
          </p:cNvPr>
          <p:cNvSpPr>
            <a:spLocks noGrp="1"/>
          </p:cNvSpPr>
          <p:nvPr>
            <p:ph type="title"/>
          </p:nvPr>
        </p:nvSpPr>
        <p:spPr>
          <a:xfrm>
            <a:off x="319083" y="1885950"/>
            <a:ext cx="11034713" cy="4972050"/>
          </a:xfrm>
        </p:spPr>
        <p:txBody>
          <a:bodyPr>
            <a:normAutofit/>
          </a:bodyPr>
          <a:lstStyle/>
          <a:p>
            <a:endParaRPr lang="fr-FR" dirty="0"/>
          </a:p>
        </p:txBody>
      </p:sp>
      <p:graphicFrame>
        <p:nvGraphicFramePr>
          <p:cNvPr id="4" name="Espace réservé du contenu 3">
            <a:extLst>
              <a:ext uri="{FF2B5EF4-FFF2-40B4-BE49-F238E27FC236}">
                <a16:creationId xmlns:a16="http://schemas.microsoft.com/office/drawing/2014/main" id="{CCFF857F-1236-C7A0-B5C6-2CAC034374D0}"/>
              </a:ext>
            </a:extLst>
          </p:cNvPr>
          <p:cNvGraphicFramePr>
            <a:graphicFrameLocks noGrp="1"/>
          </p:cNvGraphicFramePr>
          <p:nvPr>
            <p:ph idx="1"/>
            <p:extLst>
              <p:ext uri="{D42A27DB-BD31-4B8C-83A1-F6EECF244321}">
                <p14:modId xmlns:p14="http://schemas.microsoft.com/office/powerpoint/2010/main" val="3774967146"/>
              </p:ext>
            </p:extLst>
          </p:nvPr>
        </p:nvGraphicFramePr>
        <p:xfrm>
          <a:off x="838200" y="438912"/>
          <a:ext cx="10515596" cy="2048256"/>
        </p:xfrm>
        <a:graphic>
          <a:graphicData uri="http://schemas.openxmlformats.org/drawingml/2006/table">
            <a:tbl>
              <a:tblPr firstRow="1" bandRow="1">
                <a:tableStyleId>{5C22544A-7EE6-4342-B048-85BDC9FD1C3A}</a:tableStyleId>
              </a:tblPr>
              <a:tblGrid>
                <a:gridCol w="2047875">
                  <a:extLst>
                    <a:ext uri="{9D8B030D-6E8A-4147-A177-3AD203B41FA5}">
                      <a16:colId xmlns:a16="http://schemas.microsoft.com/office/drawing/2014/main" val="1633454385"/>
                    </a:ext>
                  </a:extLst>
                </a:gridCol>
                <a:gridCol w="1843088">
                  <a:extLst>
                    <a:ext uri="{9D8B030D-6E8A-4147-A177-3AD203B41FA5}">
                      <a16:colId xmlns:a16="http://schemas.microsoft.com/office/drawing/2014/main" val="2152732223"/>
                    </a:ext>
                  </a:extLst>
                </a:gridCol>
                <a:gridCol w="1685925">
                  <a:extLst>
                    <a:ext uri="{9D8B030D-6E8A-4147-A177-3AD203B41FA5}">
                      <a16:colId xmlns:a16="http://schemas.microsoft.com/office/drawing/2014/main" val="3516160822"/>
                    </a:ext>
                  </a:extLst>
                </a:gridCol>
                <a:gridCol w="1757362">
                  <a:extLst>
                    <a:ext uri="{9D8B030D-6E8A-4147-A177-3AD203B41FA5}">
                      <a16:colId xmlns:a16="http://schemas.microsoft.com/office/drawing/2014/main" val="2990543553"/>
                    </a:ext>
                  </a:extLst>
                </a:gridCol>
                <a:gridCol w="1543050">
                  <a:extLst>
                    <a:ext uri="{9D8B030D-6E8A-4147-A177-3AD203B41FA5}">
                      <a16:colId xmlns:a16="http://schemas.microsoft.com/office/drawing/2014/main" val="3098835656"/>
                    </a:ext>
                  </a:extLst>
                </a:gridCol>
                <a:gridCol w="1430016">
                  <a:extLst>
                    <a:ext uri="{9D8B030D-6E8A-4147-A177-3AD203B41FA5}">
                      <a16:colId xmlns:a16="http://schemas.microsoft.com/office/drawing/2014/main" val="1372075476"/>
                    </a:ext>
                  </a:extLst>
                </a:gridCol>
                <a:gridCol w="208280">
                  <a:extLst>
                    <a:ext uri="{9D8B030D-6E8A-4147-A177-3AD203B41FA5}">
                      <a16:colId xmlns:a16="http://schemas.microsoft.com/office/drawing/2014/main" val="1914821901"/>
                    </a:ext>
                  </a:extLst>
                </a:gridCol>
              </a:tblGrid>
              <a:tr h="1024128">
                <a:tc>
                  <a:txBody>
                    <a:bodyPr/>
                    <a:lstStyle/>
                    <a:p>
                      <a:endParaRPr lang="fr-FR" dirty="0"/>
                    </a:p>
                  </a:txBody>
                  <a:tcPr/>
                </a:tc>
                <a:tc>
                  <a:txBody>
                    <a:bodyPr/>
                    <a:lstStyle/>
                    <a:p>
                      <a:r>
                        <a:rPr lang="fr-FR" dirty="0"/>
                        <a:t>  SECRÉTAIRE</a:t>
                      </a:r>
                    </a:p>
                    <a:p>
                      <a:r>
                        <a:rPr lang="fr-FR" dirty="0"/>
                        <a:t>        (2)</a:t>
                      </a:r>
                    </a:p>
                  </a:txBody>
                  <a:tcPr/>
                </a:tc>
                <a:tc>
                  <a:txBody>
                    <a:bodyPr/>
                    <a:lstStyle/>
                    <a:p>
                      <a:r>
                        <a:rPr lang="fr-FR" dirty="0"/>
                        <a:t>  CHEFS STYLISTES </a:t>
                      </a:r>
                    </a:p>
                    <a:p>
                      <a:r>
                        <a:rPr lang="fr-FR" dirty="0"/>
                        <a:t>  ( 2 )</a:t>
                      </a:r>
                    </a:p>
                  </a:txBody>
                  <a:tcPr/>
                </a:tc>
                <a:tc>
                  <a:txBody>
                    <a:bodyPr/>
                    <a:lstStyle/>
                    <a:p>
                      <a:r>
                        <a:rPr lang="fr-FR" dirty="0"/>
                        <a:t> ASSISTANT DES CHEFS</a:t>
                      </a:r>
                    </a:p>
                    <a:p>
                      <a:r>
                        <a:rPr lang="fr-FR" dirty="0"/>
                        <a:t> (3)</a:t>
                      </a:r>
                    </a:p>
                  </a:txBody>
                  <a:tcPr/>
                </a:tc>
                <a:tc>
                  <a:txBody>
                    <a:bodyPr/>
                    <a:lstStyle/>
                    <a:p>
                      <a:r>
                        <a:rPr lang="fr-FR" dirty="0"/>
                        <a:t>MANNEQUIN</a:t>
                      </a:r>
                    </a:p>
                    <a:p>
                      <a:r>
                        <a:rPr lang="fr-FR" dirty="0"/>
                        <a:t>         ( 4 )</a:t>
                      </a:r>
                    </a:p>
                  </a:txBody>
                  <a:tcPr/>
                </a:tc>
                <a:tc>
                  <a:txBody>
                    <a:bodyPr/>
                    <a:lstStyle/>
                    <a:p>
                      <a:r>
                        <a:rPr lang="fr-FR" dirty="0"/>
                        <a:t> GARDIEN</a:t>
                      </a:r>
                    </a:p>
                    <a:p>
                      <a:r>
                        <a:rPr lang="fr-FR" dirty="0"/>
                        <a:t>      (1)</a:t>
                      </a:r>
                    </a:p>
                    <a:p>
                      <a:endParaRPr lang="fr-FR" dirty="0"/>
                    </a:p>
                  </a:txBody>
                  <a:tcPr/>
                </a:tc>
                <a:tc>
                  <a:txBody>
                    <a:bodyPr/>
                    <a:lstStyle/>
                    <a:p>
                      <a:r>
                        <a:rPr lang="fr-FR" dirty="0"/>
                        <a:t> </a:t>
                      </a:r>
                    </a:p>
                  </a:txBody>
                  <a:tcPr/>
                </a:tc>
                <a:extLst>
                  <a:ext uri="{0D108BD9-81ED-4DB2-BD59-A6C34878D82A}">
                    <a16:rowId xmlns:a16="http://schemas.microsoft.com/office/drawing/2014/main" val="2968320323"/>
                  </a:ext>
                </a:extLst>
              </a:tr>
              <a:tr h="1024128">
                <a:tc>
                  <a:txBody>
                    <a:bodyPr/>
                    <a:lstStyle/>
                    <a:p>
                      <a:r>
                        <a:rPr lang="fr-FR" dirty="0"/>
                        <a:t>  </a:t>
                      </a:r>
                    </a:p>
                    <a:p>
                      <a:r>
                        <a:rPr lang="fr-FR" dirty="0"/>
                        <a:t>    SALAIRES</a:t>
                      </a:r>
                    </a:p>
                  </a:txBody>
                  <a:tcPr/>
                </a:tc>
                <a:tc>
                  <a:txBody>
                    <a:bodyPr/>
                    <a:lstStyle/>
                    <a:p>
                      <a:r>
                        <a:rPr lang="fr-FR" dirty="0"/>
                        <a:t>(90.000*2)*12</a:t>
                      </a:r>
                    </a:p>
                    <a:p>
                      <a:r>
                        <a:rPr lang="fr-FR" dirty="0"/>
                        <a:t> soit 2.160.000</a:t>
                      </a:r>
                    </a:p>
                  </a:txBody>
                  <a:tcPr/>
                </a:tc>
                <a:tc>
                  <a:txBody>
                    <a:bodyPr/>
                    <a:lstStyle/>
                    <a:p>
                      <a:r>
                        <a:rPr lang="fr-FR" dirty="0"/>
                        <a:t>(300.000*2)*12</a:t>
                      </a:r>
                    </a:p>
                    <a:p>
                      <a:r>
                        <a:rPr lang="fr-FR" dirty="0"/>
                        <a:t>Soit 7.200.000</a:t>
                      </a:r>
                    </a:p>
                  </a:txBody>
                  <a:tcPr/>
                </a:tc>
                <a:tc>
                  <a:txBody>
                    <a:bodyPr/>
                    <a:lstStyle/>
                    <a:p>
                      <a:r>
                        <a:rPr lang="fr-FR" dirty="0"/>
                        <a:t>(120.000*6)*12 soit </a:t>
                      </a:r>
                    </a:p>
                    <a:p>
                      <a:r>
                        <a:rPr lang="fr-FR" dirty="0"/>
                        <a:t>8.640.000</a:t>
                      </a:r>
                    </a:p>
                  </a:txBody>
                  <a:tcPr/>
                </a:tc>
                <a:tc>
                  <a:txBody>
                    <a:bodyPr/>
                    <a:lstStyle/>
                    <a:p>
                      <a:r>
                        <a:rPr lang="fr-FR" dirty="0"/>
                        <a:t>(20.000*4)*6</a:t>
                      </a:r>
                    </a:p>
                    <a:p>
                      <a:r>
                        <a:rPr lang="fr-FR" dirty="0"/>
                        <a:t>Soit 480.000</a:t>
                      </a:r>
                    </a:p>
                  </a:txBody>
                  <a:tcPr/>
                </a:tc>
                <a:tc>
                  <a:txBody>
                    <a:bodyPr/>
                    <a:lstStyle/>
                    <a:p>
                      <a:r>
                        <a:rPr lang="fr-FR" dirty="0"/>
                        <a:t>(100.000*12)</a:t>
                      </a:r>
                    </a:p>
                    <a:p>
                      <a:r>
                        <a:rPr lang="fr-FR" dirty="0"/>
                        <a:t>Soit 1.200.00</a:t>
                      </a:r>
                    </a:p>
                  </a:txBody>
                  <a:tcPr/>
                </a:tc>
                <a:tc>
                  <a:txBody>
                    <a:bodyPr/>
                    <a:lstStyle/>
                    <a:p>
                      <a:endParaRPr lang="fr-FR" dirty="0"/>
                    </a:p>
                  </a:txBody>
                  <a:tcPr/>
                </a:tc>
                <a:extLst>
                  <a:ext uri="{0D108BD9-81ED-4DB2-BD59-A6C34878D82A}">
                    <a16:rowId xmlns:a16="http://schemas.microsoft.com/office/drawing/2014/main" val="2137153973"/>
                  </a:ext>
                </a:extLst>
              </a:tr>
            </a:tbl>
          </a:graphicData>
        </a:graphic>
      </p:graphicFrame>
    </p:spTree>
    <p:extLst>
      <p:ext uri="{BB962C8B-B14F-4D97-AF65-F5344CB8AC3E}">
        <p14:creationId xmlns:p14="http://schemas.microsoft.com/office/powerpoint/2010/main" val="1563309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62C6F28-809D-7D2C-1AE1-79BC2C8AB26E}"/>
              </a:ext>
            </a:extLst>
          </p:cNvPr>
          <p:cNvSpPr>
            <a:spLocks noGrp="1"/>
          </p:cNvSpPr>
          <p:nvPr>
            <p:ph idx="1"/>
          </p:nvPr>
        </p:nvSpPr>
        <p:spPr>
          <a:xfrm>
            <a:off x="838200" y="1"/>
            <a:ext cx="10515600" cy="6385810"/>
          </a:xfrm>
        </p:spPr>
        <p:txBody>
          <a:bodyPr>
            <a:normAutofit fontScale="92500" lnSpcReduction="10000"/>
          </a:bodyPr>
          <a:lstStyle/>
          <a:p>
            <a:pPr marL="0" indent="0">
              <a:buNone/>
            </a:pPr>
            <a:r>
              <a:rPr lang="fr-FR" dirty="0"/>
              <a:t>Concernant les salaires nous à : 19.680.000 millions </a:t>
            </a:r>
          </a:p>
          <a:p>
            <a:pPr marL="0" indent="0">
              <a:buNone/>
            </a:pPr>
            <a:r>
              <a:rPr lang="fr-FR" dirty="0"/>
              <a:t>Concernant les accessoires ( tissu neutre pour les tenus, perle , bouton, </a:t>
            </a:r>
            <a:r>
              <a:rPr lang="fr-FR" dirty="0" err="1"/>
              <a:t>etc</a:t>
            </a:r>
            <a:r>
              <a:rPr lang="fr-FR" dirty="0"/>
              <a:t> ) nous nous retrouvons avec : 300.000 francs</a:t>
            </a:r>
          </a:p>
          <a:p>
            <a:pPr marL="0" indent="0">
              <a:buNone/>
            </a:pPr>
            <a:r>
              <a:rPr lang="fr-FR" dirty="0"/>
              <a:t>Concernant notre local le loyer est estimé à: 6.000.000 par an</a:t>
            </a:r>
          </a:p>
          <a:p>
            <a:pPr marL="0" indent="0">
              <a:buNone/>
            </a:pPr>
            <a:r>
              <a:rPr lang="fr-FR" dirty="0"/>
              <a:t>Concernant les apparitions sur les réseaux et les médias cela est estimé à:2.000.000</a:t>
            </a:r>
          </a:p>
          <a:p>
            <a:pPr marL="0" indent="0">
              <a:buNone/>
            </a:pPr>
            <a:r>
              <a:rPr lang="fr-FR" dirty="0"/>
              <a:t> Donc en général nous nous retrouvons avec un budget estimatif de 29.370.000 soit 30.000.000 MILLIONS DE FRANCS</a:t>
            </a:r>
          </a:p>
          <a:p>
            <a:pPr marL="0" indent="0">
              <a:buNone/>
            </a:pPr>
            <a:r>
              <a:rPr lang="fr-FR" dirty="0"/>
              <a:t>Et pour obtenir ce budget nous avons l'appui de nos partenaires et des banques qui crois fortement en notre projet de révolutionné la mode africaine et béninoise en particulier </a:t>
            </a:r>
          </a:p>
          <a:p>
            <a:pPr marL="0" indent="0">
              <a:buNone/>
            </a:pPr>
            <a:r>
              <a:rPr lang="fr-FR" dirty="0"/>
              <a:t>                                           PLAN DE DÉPLOIEMENT </a:t>
            </a:r>
          </a:p>
          <a:p>
            <a:pPr marL="0" indent="0">
              <a:buNone/>
            </a:pPr>
            <a:r>
              <a:rPr lang="fr-FR" dirty="0"/>
              <a:t>Comme plan de déploiement nous pouvons compter sur nos différentes interactions sur les réseaux grâce a l'appui des influenceurs et des médias télévisés . De plus nous comptons boosté nos ventes dans la période des fêtes telles que la fête de la femme , le fête des mère, la fête des pères , Ramadan et bien d'autre et cela en appuis avec  nos dans la sous-région</a:t>
            </a:r>
          </a:p>
        </p:txBody>
      </p:sp>
    </p:spTree>
    <p:extLst>
      <p:ext uri="{BB962C8B-B14F-4D97-AF65-F5344CB8AC3E}">
        <p14:creationId xmlns:p14="http://schemas.microsoft.com/office/powerpoint/2010/main" val="1781851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DDD1243-C20B-BE00-07EA-067CFBFD1FDC}"/>
              </a:ext>
            </a:extLst>
          </p:cNvPr>
          <p:cNvSpPr>
            <a:spLocks noGrp="1"/>
          </p:cNvSpPr>
          <p:nvPr>
            <p:ph idx="1"/>
          </p:nvPr>
        </p:nvSpPr>
        <p:spPr>
          <a:xfrm>
            <a:off x="838200" y="0"/>
            <a:ext cx="10515600" cy="6176963"/>
          </a:xfrm>
        </p:spPr>
        <p:txBody>
          <a:bodyPr>
            <a:normAutofit/>
          </a:bodyPr>
          <a:lstStyle/>
          <a:p>
            <a:pPr marL="0" indent="0">
              <a:buNone/>
            </a:pPr>
            <a:endParaRPr lang="fr-FR" dirty="0"/>
          </a:p>
          <a:p>
            <a:pPr marL="0" indent="0">
              <a:buNone/>
            </a:pPr>
            <a:r>
              <a:rPr lang="fr-FR" dirty="0"/>
              <a:t>PROJECTION SUR 12 MOIS</a:t>
            </a:r>
          </a:p>
          <a:p>
            <a:pPr marL="0" indent="0">
              <a:buNone/>
            </a:pPr>
            <a:r>
              <a:rPr lang="fr-FR" dirty="0"/>
              <a:t>Dans 12 mois soit un an nous nous voyons rentabilisé notre budget avec un marche minimum de 10.000.000 millions grâce au ventes accrus suivi de nos déploiements dans la sous région </a:t>
            </a:r>
          </a:p>
          <a:p>
            <a:pPr marL="0" indent="0">
              <a:buNone/>
            </a:pPr>
            <a:endParaRPr lang="fr-FR" dirty="0"/>
          </a:p>
          <a:p>
            <a:pPr marL="0" indent="0">
              <a:buNone/>
            </a:pPr>
            <a:r>
              <a:rPr lang="fr-FR" dirty="0"/>
              <a:t>CONCLUSION STRATÉGIQUE ET PRISE DE DÉCISION </a:t>
            </a:r>
          </a:p>
          <a:p>
            <a:pPr marL="0" indent="0">
              <a:buNone/>
            </a:pPr>
            <a:r>
              <a:rPr lang="fr-FR" dirty="0"/>
              <a:t>En tant que dirigeant du groupe LUXEORA je vous garantie la qualité et la durabilité de nos produits. Bien vrai nous avons un gros budget mais qui dit qualité dit implication et sacrifice et tout booster par notre site web nos apparition médiatique sur les réseaux et les chaines de télé tout cela accompagné par la grâce du très haut</a:t>
            </a:r>
          </a:p>
          <a:p>
            <a:pPr marL="0" indent="0">
              <a:buNone/>
            </a:pPr>
            <a:r>
              <a:rPr lang="fr-FR" dirty="0"/>
              <a:t>Nous nous engageons à changer le visage d la mode béninoise </a:t>
            </a:r>
          </a:p>
        </p:txBody>
      </p:sp>
    </p:spTree>
    <p:extLst>
      <p:ext uri="{BB962C8B-B14F-4D97-AF65-F5344CB8AC3E}">
        <p14:creationId xmlns:p14="http://schemas.microsoft.com/office/powerpoint/2010/main" val="278436640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2321</TotalTime>
  <Words>1216</Words>
  <Application>Microsoft Office PowerPoint</Application>
  <PresentationFormat>Grand écran</PresentationFormat>
  <Paragraphs>121</Paragraphs>
  <Slides>12</Slides>
  <Notes>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Arial</vt:lpstr>
      <vt:lpstr>Calibri</vt:lpstr>
      <vt:lpstr>Calibri Light</vt:lpstr>
      <vt:lpstr>Thème Office</vt:lpstr>
      <vt:lpstr>LUXEORA Fashion House</vt:lpstr>
      <vt:lpstr>PARCOURS DE NOTRE BUSINESS PLAN </vt:lpstr>
      <vt:lpstr>LUXEORA Fashion house</vt:lpstr>
      <vt:lpstr>Présentation PowerPoint</vt:lpstr>
      <vt:lpstr>PROBLÈME DE LA SOCIÉTÉ </vt:lpstr>
      <vt:lpstr>ANALYSE SWOT</vt:lpstr>
      <vt:lpstr>STRATÉGIE DE TRANSFORMATION DIGITAL</vt:lpstr>
      <vt:lpstr>SOLUTION WEB</vt:lpstr>
      <vt:lpstr>IMPACT SUR LE CHIFFRE D'AFFAIRES ET BUDGET                                 ESTIMATIF</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Kadmiel GANI</dc:creator>
  <cp:lastModifiedBy>Kadmiel GANI</cp:lastModifiedBy>
  <cp:revision>5</cp:revision>
  <dcterms:created xsi:type="dcterms:W3CDTF">2026-02-26T22:19:26Z</dcterms:created>
  <dcterms:modified xsi:type="dcterms:W3CDTF">2026-02-28T20:17:27Z</dcterms:modified>
</cp:coreProperties>
</file>